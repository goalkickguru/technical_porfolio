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Average Inspection Score by Cuisine (Top/Bottom Performers)</a:t>
            </a:r>
          </a:p>
        </c:rich>
      </c:tx>
      <c:layout/>
      <c:overlay val="0"/>
    </c:title>
    <c:autoTitleDeleted val="0"/>
    <c:plotArea>
      <c:layout/>
      <c:barChart>
        <c:barDir val="bar"/>
        <c:grouping val="clustered"/>
        <c:varyColors val="0"/>
        <c:ser>
          <c:idx val="0"/>
          <c:order val="0"/>
          <c:tx>
            <c:strRef>
              <c:f>Sheet1!$B$1</c:f>
              <c:strCache>
                <c:ptCount val="1"/>
                <c:pt idx="0">
                  <c:v>Avg Score</c:v>
                </c:pt>
              </c:strCache>
            </c:strRef>
          </c:tx>
          <c:spPr>
            <a:solidFill>
              <a:srgbClr val="3F8CFF"/>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Bakery</c:v>
                  </c:pt>
                  <c:pt idx="1">
                    <c:v>Café</c:v>
                  </c:pt>
                  <c:pt idx="2">
                    <c:v>Juice Bar</c:v>
                  </c:pt>
                  <c:pt idx="3">
                    <c:v>Pizza</c:v>
                  </c:pt>
                  <c:pt idx="4">
                    <c:v>American</c:v>
                  </c:pt>
                  <c:pt idx="5">
                    <c:v>Chinese</c:v>
                  </c:pt>
                  <c:pt idx="6">
                    <c:v>Mexican</c:v>
                  </c:pt>
                  <c:pt idx="7">
                    <c:v>Caribbean</c:v>
                  </c:pt>
                </c:lvl>
              </c:multiLvlStrCache>
            </c:multiLvlStrRef>
          </c:cat>
          <c:val>
            <c:numRef>
              <c:f>Sheet1!$B$2:$B$9</c:f>
              <c:numCache>
                <c:formatCode>General</c:formatCode>
                <c:ptCount val="8"/>
                <c:pt idx="0">
                  <c:v>10.8</c:v>
                </c:pt>
                <c:pt idx="1">
                  <c:v>12.1</c:v>
                </c:pt>
                <c:pt idx="2">
                  <c:v>12.9</c:v>
                </c:pt>
                <c:pt idx="3">
                  <c:v>15.4</c:v>
                </c:pt>
                <c:pt idx="4">
                  <c:v>16.2</c:v>
                </c:pt>
                <c:pt idx="5">
                  <c:v>19.8</c:v>
                </c:pt>
                <c:pt idx="6">
                  <c:v>21.3</c:v>
                </c:pt>
                <c:pt idx="7">
                  <c:v>24.6</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AEAEA"/>
              </a:solidFill>
              <a:prstDash val="solid"/>
              <a:round/>
            </a:ln>
          </c:spPr>
        </c:majorGridlines>
        <c:title>
          <c:tx>
            <c:rich>
              <a:bodyPr/>
              <a:lstStyle/>
              <a:p>
                <a:pPr>
                  <a:defRPr sz="1000" b="0" i="0" u="none" strike="noStrike">
                    <a:solidFill>
                      <a:srgbClr val="5A6178"/>
                    </a:solidFill>
                    <a:latin typeface="Arial"/>
                  </a:defRPr>
                </a:pPr>
                <a:r>
                  <a:rPr sz="1000" b="0" i="0" u="none" strike="noStrike">
                    <a:solidFill>
                      <a:srgbClr val="5A6178"/>
                    </a:solidFill>
                    <a:latin typeface="Arial"/>
                  </a:rPr>
                  <a:t>Avg Score (lower = better)</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Median Inspection Score &amp; Spread by Price Level</a:t>
            </a:r>
          </a:p>
        </c:rich>
      </c:tx>
      <c:layout/>
      <c:overlay val="0"/>
    </c:title>
    <c:autoTitleDeleted val="0"/>
    <c:plotArea>
      <c:layout/>
      <c:barChart>
        <c:barDir val="col"/>
        <c:grouping val="clustered"/>
        <c:varyColors val="0"/>
        <c:ser>
          <c:idx val="0"/>
          <c:order val="0"/>
          <c:tx>
            <c:strRef>
              <c:f>Sheet1!$B$1</c:f>
              <c:strCache>
                <c:ptCount val="1"/>
                <c:pt idx="0">
                  <c:v>Median Score</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 (1)</c:v>
                  </c:pt>
                  <c:pt idx="1">
                    <c:v>$$ (2)</c:v>
                  </c:pt>
                  <c:pt idx="2">
                    <c:v>$$$ (3)</c:v>
                  </c:pt>
                  <c:pt idx="3">
                    <c:v>$$$$ (4)</c:v>
                  </c:pt>
                  <c:pt idx="4">
                    <c:v>$$$$$ (5)</c:v>
                  </c:pt>
                </c:lvl>
              </c:multiLvlStrCache>
            </c:multiLvlStrRef>
          </c:cat>
          <c:val>
            <c:numRef>
              <c:f>Sheet1!$B$2:$B$6</c:f>
              <c:numCache>
                <c:formatCode>General</c:formatCode>
                <c:ptCount val="5"/>
                <c:pt idx="0">
                  <c:v>17</c:v>
                </c:pt>
                <c:pt idx="1">
                  <c:v>16</c:v>
                </c:pt>
                <c:pt idx="2">
                  <c:v>18</c:v>
                </c:pt>
                <c:pt idx="3">
                  <c:v>15</c:v>
                </c:pt>
                <c:pt idx="4">
                  <c:v>17</c:v>
                </c:pt>
              </c:numCache>
            </c:numRef>
          </c:val>
        </c:ser>
        <c:ser>
          <c:idx val="1"/>
          <c:order val="1"/>
          <c:tx>
            <c:strRef>
              <c:f>Sheet1!$C$1</c:f>
              <c:strCache>
                <c:ptCount val="1"/>
                <c:pt idx="0">
                  <c:v>Score Range (IQR)</c:v>
                </c:pt>
              </c:strCache>
            </c:strRef>
          </c:tx>
          <c:spPr>
            <a:solidFill>
              <a:srgbClr val="A9C6F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 (1)</c:v>
                  </c:pt>
                  <c:pt idx="1">
                    <c:v>$$ (2)</c:v>
                  </c:pt>
                  <c:pt idx="2">
                    <c:v>$$$ (3)</c:v>
                  </c:pt>
                  <c:pt idx="3">
                    <c:v>$$$$ (4)</c:v>
                  </c:pt>
                  <c:pt idx="4">
                    <c:v>$$$$$ (5)</c:v>
                  </c:pt>
                </c:lvl>
              </c:multiLvlStrCache>
            </c:multiLvlStrRef>
          </c:cat>
          <c:val>
            <c:numRef>
              <c:f>Sheet1!$C$2:$C$6</c:f>
              <c:numCache>
                <c:formatCode>General</c:formatCode>
                <c:ptCount val="5"/>
                <c:pt idx="0">
                  <c:v>9</c:v>
                </c:pt>
                <c:pt idx="1">
                  <c:v>10</c:v>
                </c:pt>
                <c:pt idx="2">
                  <c:v>8</c:v>
                </c:pt>
                <c:pt idx="3">
                  <c:v>7</c:v>
                </c:pt>
                <c:pt idx="4">
                  <c:v>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AEAEA"/>
              </a:solidFill>
              <a:prstDash val="solid"/>
              <a:round/>
            </a:ln>
          </c:spPr>
        </c:majorGridlines>
        <c:title>
          <c:tx>
            <c:rich>
              <a:bodyPr/>
              <a:lstStyle/>
              <a:p>
                <a:pPr>
                  <a:defRPr sz="1000" b="0" i="0" u="none" strike="noStrike">
                    <a:solidFill>
                      <a:srgbClr val="5A6178"/>
                    </a:solidFill>
                    <a:latin typeface="Arial"/>
                  </a:defRPr>
                </a:pPr>
                <a:r>
                  <a:rPr sz="1000" b="0" i="0" u="none" strike="noStrike">
                    <a:solidFill>
                      <a:srgbClr val="5A6178"/>
                    </a:solidFill>
                    <a:latin typeface="Arial"/>
                  </a:rPr>
                  <a:t>Score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Pass Rate (%) by Inspection Type</a:t>
            </a:r>
          </a:p>
        </c:rich>
      </c:tx>
      <c:layout/>
      <c:overlay val="0"/>
    </c:title>
    <c:autoTitleDeleted val="0"/>
    <c:plotArea>
      <c:layout/>
      <c:barChart>
        <c:barDir val="bar"/>
        <c:grouping val="clustered"/>
        <c:varyColors val="0"/>
        <c:ser>
          <c:idx val="0"/>
          <c:order val="0"/>
          <c:tx>
            <c:strRef>
              <c:f>Sheet1!$B$1</c:f>
              <c:strCache>
                <c:ptCount val="1"/>
                <c:pt idx="0">
                  <c:v>Pass Rate %</c:v>
                </c:pt>
              </c:strCache>
            </c:strRef>
          </c:tx>
          <c:spPr>
            <a:solidFill>
              <a:srgbClr val="6FBF9E"/>
            </a:solidFill>
            <a:effectLst/>
          </c:spPr>
          <c:invertIfNegative val="0"/>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Cycle Inspection</c:v>
                  </c:pt>
                  <c:pt idx="1">
                    <c:v>Pre-permit (Op)</c:v>
                  </c:pt>
                  <c:pt idx="2">
                    <c:v>Compliance</c:v>
                  </c:pt>
                  <c:pt idx="3">
                    <c:v>Pre-permit (Eqp)</c:v>
                  </c:pt>
                  <c:pt idx="4">
                    <c:v>Administrative</c:v>
                  </c:pt>
                </c:lvl>
              </c:multiLvlStrCache>
            </c:multiLvlStrRef>
          </c:cat>
          <c:val>
            <c:numRef>
              <c:f>Sheet1!$B$2:$B$6</c:f>
              <c:numCache>
                <c:formatCode>General</c:formatCode>
                <c:ptCount val="5"/>
                <c:pt idx="0">
                  <c:v>64</c:v>
                </c:pt>
                <c:pt idx="1">
                  <c:v>58</c:v>
                </c:pt>
                <c:pt idx="2">
                  <c:v>51</c:v>
                </c:pt>
                <c:pt idx="3">
                  <c:v>47</c:v>
                </c:pt>
                <c:pt idx="4">
                  <c:v>38</c:v>
                </c:pt>
              </c:numCache>
            </c:numRef>
          </c:val>
        </c:ser>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AEAEA"/>
              </a:solidFill>
              <a:prstDash val="solid"/>
              <a:round/>
            </a:ln>
          </c:spPr>
        </c:majorGridlines>
        <c:title>
          <c:tx>
            <c:rich>
              <a:bodyPr/>
              <a:lstStyle/>
              <a:p>
                <a:pPr>
                  <a:defRPr sz="1000" b="0" i="0" u="none" strike="noStrike">
                    <a:solidFill>
                      <a:srgbClr val="5A6178"/>
                    </a:solidFill>
                    <a:latin typeface="Arial"/>
                  </a:defRPr>
                </a:pPr>
                <a:r>
                  <a:rPr sz="1000" b="0" i="0" u="none" strike="noStrike">
                    <a:solidFill>
                      <a:srgbClr val="5A6178"/>
                    </a:solidFill>
                    <a:latin typeface="Arial"/>
                  </a:rPr>
                  <a:t>Pass Rate (%)</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27306B"/>
          </a:solidFill>
          <a:ln/>
        </p:spPr>
      </p:sp>
      <p:sp>
        <p:nvSpPr>
          <p:cNvPr id="3" name="Shape 1"/>
          <p:cNvSpPr/>
          <p:nvPr/>
        </p:nvSpPr>
        <p:spPr>
          <a:xfrm>
            <a:off x="10241280" y="4206240"/>
            <a:ext cx="3840480" cy="3840480"/>
          </a:xfrm>
          <a:prstGeom prst="ellipse">
            <a:avLst/>
          </a:prstGeom>
          <a:solidFill>
            <a:srgbClr val="222A5C"/>
          </a:solidFill>
          <a:ln/>
        </p:spPr>
      </p:sp>
      <p:sp>
        <p:nvSpPr>
          <p:cNvPr id="4" name="Text 2"/>
          <p:cNvSpPr/>
          <p:nvPr/>
        </p:nvSpPr>
        <p:spPr>
          <a:xfrm>
            <a:off x="731520" y="1920240"/>
            <a:ext cx="7315200" cy="36576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CAPSTONE PROJECT</a:t>
            </a:r>
            <a:endParaRPr lang="en-US" sz="1400" dirty="0"/>
          </a:p>
        </p:txBody>
      </p:sp>
      <p:sp>
        <p:nvSpPr>
          <p:cNvPr id="5" name="Text 3"/>
          <p:cNvSpPr/>
          <p:nvPr/>
        </p:nvSpPr>
        <p:spPr>
          <a:xfrm>
            <a:off x="731520" y="2286000"/>
            <a:ext cx="96012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NYC Restaurant Inspections</a:t>
            </a:r>
            <a:endParaRPr lang="en-US" sz="4400" dirty="0"/>
          </a:p>
        </p:txBody>
      </p:sp>
      <p:sp>
        <p:nvSpPr>
          <p:cNvPr id="6" name="Text 4"/>
          <p:cNvSpPr/>
          <p:nvPr/>
        </p:nvSpPr>
        <p:spPr>
          <a:xfrm>
            <a:off x="731520" y="3246120"/>
            <a:ext cx="8686800" cy="64008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Linking Cuisine, Price, and Inspection Type to Health Compliance Outcomes</a:t>
            </a:r>
            <a:endParaRPr lang="en-US" sz="1800" dirty="0"/>
          </a:p>
        </p:txBody>
      </p:sp>
      <p:sp>
        <p:nvSpPr>
          <p:cNvPr id="7" name="Text 5"/>
          <p:cNvSpPr/>
          <p:nvPr/>
        </p:nvSpPr>
        <p:spPr>
          <a:xfrm>
            <a:off x="731520" y="6035040"/>
            <a:ext cx="5486400" cy="365760"/>
          </a:xfrm>
          <a:prstGeom prst="rect">
            <a:avLst/>
          </a:prstGeom>
          <a:noFill/>
          <a:ln/>
        </p:spPr>
        <p:txBody>
          <a:bodyPr wrap="square" rtlCol="0" anchor="ctr"/>
          <a:lstStyle/>
          <a:p>
            <a:pPr indent="0" marL="0">
              <a:buNone/>
            </a:pPr>
            <a:r>
              <a:rPr lang="en-US" sz="1300" dirty="0">
                <a:solidFill>
                  <a:srgbClr val="9AA6D6"/>
                </a:solidFill>
                <a:latin typeface="Calibri" pitchFamily="34" charset="0"/>
                <a:ea typeface="Calibri" pitchFamily="34" charset="-122"/>
                <a:cs typeface="Calibri" pitchFamily="34" charset="-120"/>
              </a:rPr>
              <a:t>Data Analytics Team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Why This Analysis Matters</a:t>
            </a:r>
            <a:endParaRPr lang="en-US" sz="2800" dirty="0"/>
          </a:p>
        </p:txBody>
      </p:sp>
      <p:sp>
        <p:nvSpPr>
          <p:cNvPr id="4" name="Text 2"/>
          <p:cNvSpPr/>
          <p:nvPr/>
        </p:nvSpPr>
        <p:spPr>
          <a:xfrm>
            <a:off x="548640" y="1554480"/>
            <a:ext cx="6035040" cy="4572000"/>
          </a:xfrm>
          <a:prstGeom prst="rect">
            <a:avLst/>
          </a:prstGeom>
          <a:noFill/>
          <a:ln/>
        </p:spPr>
        <p:txBody>
          <a:bodyPr wrap="square" rtlCol="0" anchor="t"/>
          <a:lstStyle/>
          <a:p>
            <a:pPr indent="0" marL="0">
              <a:buNone/>
            </a:pPr>
            <a:r>
              <a:rPr lang="en-US" sz="1600" b="1" dirty="0">
                <a:solidFill>
                  <a:srgbClr val="1E2761"/>
                </a:solidFill>
              </a:rPr>
              <a:t>The client scenario
</a:t>
            </a:r>
            <a:endParaRPr lang="en-US" sz="1600" dirty="0"/>
          </a:p>
          <a:p>
            <a:pPr indent="0" marL="0">
              <a:buNone/>
            </a:pPr>
            <a:r>
              <a:rPr lang="en-US" sz="1400" dirty="0">
                <a:solidFill>
                  <a:srgbClr val="333333"/>
                </a:solidFill>
              </a:rPr>
              <a:t>As data analysts at a consulting firm, we support restaurant owners in optimizing business performance. Clients want to know whether characteristics like cuisine type, location, and price level relate to how well they perform on NYC health inspections.
</a:t>
            </a:r>
            <a:endParaRPr lang="en-US" sz="1600" dirty="0"/>
          </a:p>
          <a:p>
            <a:pPr indent="0" marL="0">
              <a:buNone/>
            </a:pPr>
            <a:r>
              <a:rPr lang="en-US" sz="1600" b="1" dirty="0">
                <a:solidFill>
                  <a:srgbClr val="1E2761"/>
                </a:solidFill>
              </a:rPr>
              <a:t>The goal
</a:t>
            </a:r>
            <a:endParaRPr lang="en-US" sz="1600" dirty="0"/>
          </a:p>
          <a:p>
            <a:pPr indent="0" marL="0">
              <a:buNone/>
            </a:pPr>
            <a:r>
              <a:rPr lang="en-US" sz="1400" dirty="0">
                <a:solidFill>
                  <a:srgbClr val="333333"/>
                </a:solidFill>
              </a:rPr>
              <a:t>Turn two raw public data sources into a queryable database, then surface specific, actionable insights clients can use to reduce inspection risk.</a:t>
            </a:r>
            <a:endParaRPr lang="en-US" sz="1600" dirty="0"/>
          </a:p>
        </p:txBody>
      </p:sp>
      <p:sp>
        <p:nvSpPr>
          <p:cNvPr id="5" name="Shape 3"/>
          <p:cNvSpPr/>
          <p:nvPr/>
        </p:nvSpPr>
        <p:spPr>
          <a:xfrm>
            <a:off x="7040880" y="1554480"/>
            <a:ext cx="4572000" cy="4480560"/>
          </a:xfrm>
          <a:prstGeom prst="roundRect">
            <a:avLst>
              <a:gd name="adj" fmla="val 2449"/>
            </a:avLst>
          </a:prstGeom>
          <a:solidFill>
            <a:srgbClr val="F4F6FB"/>
          </a:solidFill>
          <a:ln w="12700">
            <a:solidFill>
              <a:srgbClr val="CADCFC"/>
            </a:solidFill>
            <a:prstDash val="solid"/>
          </a:ln>
        </p:spPr>
      </p:sp>
      <p:sp>
        <p:nvSpPr>
          <p:cNvPr id="6" name="Text 4"/>
          <p:cNvSpPr/>
          <p:nvPr/>
        </p:nvSpPr>
        <p:spPr>
          <a:xfrm>
            <a:off x="7315200" y="1783080"/>
            <a:ext cx="40233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Business Questions</a:t>
            </a:r>
            <a:endParaRPr lang="en-US" sz="1400" dirty="0"/>
          </a:p>
        </p:txBody>
      </p:sp>
      <p:sp>
        <p:nvSpPr>
          <p:cNvPr id="7" name="Shape 5"/>
          <p:cNvSpPr/>
          <p:nvPr/>
        </p:nvSpPr>
        <p:spPr>
          <a:xfrm>
            <a:off x="7315200" y="2286000"/>
            <a:ext cx="320040" cy="320040"/>
          </a:xfrm>
          <a:prstGeom prst="ellipse">
            <a:avLst/>
          </a:prstGeom>
          <a:solidFill>
            <a:srgbClr val="3F8CFF"/>
          </a:solidFill>
          <a:ln/>
        </p:spPr>
      </p:sp>
      <p:sp>
        <p:nvSpPr>
          <p:cNvPr id="8" name="Text 6"/>
          <p:cNvSpPr/>
          <p:nvPr/>
        </p:nvSpPr>
        <p:spPr>
          <a:xfrm>
            <a:off x="7315200" y="22860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772400" y="2240280"/>
            <a:ext cx="3657600" cy="685800"/>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Does cuisine type predict inspection risk?</a:t>
            </a:r>
            <a:endParaRPr lang="en-US" sz="1300" dirty="0"/>
          </a:p>
        </p:txBody>
      </p:sp>
      <p:sp>
        <p:nvSpPr>
          <p:cNvPr id="10" name="Shape 8"/>
          <p:cNvSpPr/>
          <p:nvPr/>
        </p:nvSpPr>
        <p:spPr>
          <a:xfrm>
            <a:off x="7315200" y="3154680"/>
            <a:ext cx="320040" cy="320040"/>
          </a:xfrm>
          <a:prstGeom prst="ellipse">
            <a:avLst/>
          </a:prstGeom>
          <a:solidFill>
            <a:srgbClr val="3F8CFF"/>
          </a:solidFill>
          <a:ln/>
        </p:spPr>
      </p:sp>
      <p:sp>
        <p:nvSpPr>
          <p:cNvPr id="11" name="Text 9"/>
          <p:cNvSpPr/>
          <p:nvPr/>
        </p:nvSpPr>
        <p:spPr>
          <a:xfrm>
            <a:off x="7315200" y="315468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772400" y="3108960"/>
            <a:ext cx="3657600" cy="685800"/>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Do higher-priced restaurants maintain better compliance?</a:t>
            </a:r>
            <a:endParaRPr lang="en-US" sz="1300" dirty="0"/>
          </a:p>
        </p:txBody>
      </p:sp>
      <p:sp>
        <p:nvSpPr>
          <p:cNvPr id="13" name="Shape 11"/>
          <p:cNvSpPr/>
          <p:nvPr/>
        </p:nvSpPr>
        <p:spPr>
          <a:xfrm>
            <a:off x="7315200" y="4023360"/>
            <a:ext cx="320040" cy="320040"/>
          </a:xfrm>
          <a:prstGeom prst="ellipse">
            <a:avLst/>
          </a:prstGeom>
          <a:solidFill>
            <a:srgbClr val="3F8CFF"/>
          </a:solidFill>
          <a:ln/>
        </p:spPr>
      </p:sp>
      <p:sp>
        <p:nvSpPr>
          <p:cNvPr id="14" name="Text 12"/>
          <p:cNvSpPr/>
          <p:nvPr/>
        </p:nvSpPr>
        <p:spPr>
          <a:xfrm>
            <a:off x="7315200" y="40233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7772400" y="3977640"/>
            <a:ext cx="3657600" cy="685800"/>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Which inspection types are hardest to pass?</a:t>
            </a:r>
            <a:endParaRPr lang="en-US" sz="1300" dirty="0"/>
          </a:p>
        </p:txBody>
      </p:sp>
      <p:sp>
        <p:nvSpPr>
          <p:cNvPr id="16" name="Shape 14"/>
          <p:cNvSpPr/>
          <p:nvPr/>
        </p:nvSpPr>
        <p:spPr>
          <a:xfrm>
            <a:off x="7315200" y="4892040"/>
            <a:ext cx="320040" cy="320040"/>
          </a:xfrm>
          <a:prstGeom prst="ellipse">
            <a:avLst/>
          </a:prstGeom>
          <a:solidFill>
            <a:srgbClr val="3F8CFF"/>
          </a:solidFill>
          <a:ln/>
        </p:spPr>
      </p:sp>
      <p:sp>
        <p:nvSpPr>
          <p:cNvPr id="17" name="Text 15"/>
          <p:cNvSpPr/>
          <p:nvPr/>
        </p:nvSpPr>
        <p:spPr>
          <a:xfrm>
            <a:off x="7315200" y="489204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7772400" y="4846320"/>
            <a:ext cx="3657600" cy="685800"/>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Do ratings and inspection scores align geographically?</a:t>
            </a:r>
            <a:endParaRPr lang="en-US" sz="1300" dirty="0"/>
          </a:p>
        </p:txBody>
      </p:sp>
      <p:sp>
        <p:nvSpPr>
          <p:cNvPr id="19" name="Text 1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From Raw Sources to Insight</a:t>
            </a:r>
            <a:endParaRPr lang="en-US" sz="2800" dirty="0"/>
          </a:p>
        </p:txBody>
      </p:sp>
      <p:sp>
        <p:nvSpPr>
          <p:cNvPr id="4" name="Shape 2"/>
          <p:cNvSpPr/>
          <p:nvPr/>
        </p:nvSpPr>
        <p:spPr>
          <a:xfrm>
            <a:off x="640080" y="2377440"/>
            <a:ext cx="2011680" cy="1463040"/>
          </a:xfrm>
          <a:prstGeom prst="roundRect">
            <a:avLst>
              <a:gd name="adj" fmla="val 6250"/>
            </a:avLst>
          </a:prstGeom>
          <a:solidFill>
            <a:srgbClr val="3F8CFF"/>
          </a:solidFill>
          <a:ln/>
        </p:spPr>
      </p:sp>
      <p:sp>
        <p:nvSpPr>
          <p:cNvPr id="5" name="Text 3"/>
          <p:cNvSpPr/>
          <p:nvPr/>
        </p:nvSpPr>
        <p:spPr>
          <a:xfrm>
            <a:off x="640080" y="2487168"/>
            <a:ext cx="20116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Scrape</a:t>
            </a:r>
            <a:endParaRPr lang="en-US" sz="1400" dirty="0"/>
          </a:p>
        </p:txBody>
      </p:sp>
      <p:sp>
        <p:nvSpPr>
          <p:cNvPr id="6" name="Text 4"/>
          <p:cNvSpPr/>
          <p:nvPr/>
        </p:nvSpPr>
        <p:spPr>
          <a:xfrm>
            <a:off x="731520" y="2880360"/>
            <a:ext cx="1828800" cy="868680"/>
          </a:xfrm>
          <a:prstGeom prst="rect">
            <a:avLst/>
          </a:prstGeom>
          <a:noFill/>
          <a:ln/>
        </p:spPr>
        <p:txBody>
          <a:bodyPr wrap="square"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HTML inspection</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table (pd.read_html)</a:t>
            </a:r>
            <a:endParaRPr lang="en-US" sz="1050" dirty="0"/>
          </a:p>
        </p:txBody>
      </p:sp>
      <p:sp>
        <p:nvSpPr>
          <p:cNvPr id="7" name="Text 5"/>
          <p:cNvSpPr/>
          <p:nvPr/>
        </p:nvSpPr>
        <p:spPr>
          <a:xfrm>
            <a:off x="2651760" y="2834640"/>
            <a:ext cx="320040" cy="548640"/>
          </a:xfrm>
          <a:prstGeom prst="rect">
            <a:avLst/>
          </a:prstGeom>
          <a:noFill/>
          <a:ln/>
        </p:spPr>
        <p:txBody>
          <a:bodyPr wrap="square" rtlCol="0" anchor="ctr"/>
          <a:lstStyle/>
          <a:p>
            <a:pPr algn="ctr" indent="0" marL="0">
              <a:buNone/>
            </a:pPr>
            <a:r>
              <a:rPr lang="en-US" sz="2000" b="1" dirty="0">
                <a:solidFill>
                  <a:srgbClr val="5A6178"/>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971800" y="2377440"/>
            <a:ext cx="2011680" cy="1463040"/>
          </a:xfrm>
          <a:prstGeom prst="roundRect">
            <a:avLst>
              <a:gd name="adj" fmla="val 6250"/>
            </a:avLst>
          </a:prstGeom>
          <a:solidFill>
            <a:srgbClr val="5AA9E6"/>
          </a:solidFill>
          <a:ln/>
        </p:spPr>
      </p:sp>
      <p:sp>
        <p:nvSpPr>
          <p:cNvPr id="9" name="Text 7"/>
          <p:cNvSpPr/>
          <p:nvPr/>
        </p:nvSpPr>
        <p:spPr>
          <a:xfrm>
            <a:off x="2971800" y="2487168"/>
            <a:ext cx="20116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API Collect</a:t>
            </a:r>
            <a:endParaRPr lang="en-US" sz="1400" dirty="0"/>
          </a:p>
        </p:txBody>
      </p:sp>
      <p:sp>
        <p:nvSpPr>
          <p:cNvPr id="10" name="Text 8"/>
          <p:cNvSpPr/>
          <p:nvPr/>
        </p:nvSpPr>
        <p:spPr>
          <a:xfrm>
            <a:off x="3063240" y="2880360"/>
            <a:ext cx="1828800" cy="868680"/>
          </a:xfrm>
          <a:prstGeom prst="rect">
            <a:avLst/>
          </a:prstGeom>
          <a:noFill/>
          <a:ln/>
        </p:spPr>
        <p:txBody>
          <a:bodyPr wrap="square"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Paginated ratings &amp;</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business info</a:t>
            </a:r>
            <a:endParaRPr lang="en-US" sz="1050" dirty="0"/>
          </a:p>
        </p:txBody>
      </p:sp>
      <p:sp>
        <p:nvSpPr>
          <p:cNvPr id="11" name="Text 9"/>
          <p:cNvSpPr/>
          <p:nvPr/>
        </p:nvSpPr>
        <p:spPr>
          <a:xfrm>
            <a:off x="4983480" y="2834640"/>
            <a:ext cx="320040" cy="548640"/>
          </a:xfrm>
          <a:prstGeom prst="rect">
            <a:avLst/>
          </a:prstGeom>
          <a:noFill/>
          <a:ln/>
        </p:spPr>
        <p:txBody>
          <a:bodyPr wrap="square" rtlCol="0" anchor="ctr"/>
          <a:lstStyle/>
          <a:p>
            <a:pPr algn="ctr" indent="0" marL="0">
              <a:buNone/>
            </a:pPr>
            <a:r>
              <a:rPr lang="en-US" sz="2000" b="1" dirty="0">
                <a:solidFill>
                  <a:srgbClr val="5A6178"/>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303520" y="2377440"/>
            <a:ext cx="2011680" cy="1463040"/>
          </a:xfrm>
          <a:prstGeom prst="roundRect">
            <a:avLst>
              <a:gd name="adj" fmla="val 6250"/>
            </a:avLst>
          </a:prstGeom>
          <a:solidFill>
            <a:srgbClr val="6FBF9E"/>
          </a:solidFill>
          <a:ln/>
        </p:spPr>
      </p:sp>
      <p:sp>
        <p:nvSpPr>
          <p:cNvPr id="13" name="Text 11"/>
          <p:cNvSpPr/>
          <p:nvPr/>
        </p:nvSpPr>
        <p:spPr>
          <a:xfrm>
            <a:off x="5303520" y="2487168"/>
            <a:ext cx="20116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Clean</a:t>
            </a:r>
            <a:endParaRPr lang="en-US" sz="1400" dirty="0"/>
          </a:p>
        </p:txBody>
      </p:sp>
      <p:sp>
        <p:nvSpPr>
          <p:cNvPr id="14" name="Text 12"/>
          <p:cNvSpPr/>
          <p:nvPr/>
        </p:nvSpPr>
        <p:spPr>
          <a:xfrm>
            <a:off x="5394960" y="2880360"/>
            <a:ext cx="1828800" cy="868680"/>
          </a:xfrm>
          <a:prstGeom prst="rect">
            <a:avLst/>
          </a:prstGeom>
          <a:noFill/>
          <a:ln/>
        </p:spPr>
        <p:txBody>
          <a:bodyPr wrap="square"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Standardize names,</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prices, ZIPs, dtypes</a:t>
            </a:r>
            <a:endParaRPr lang="en-US" sz="1050" dirty="0"/>
          </a:p>
        </p:txBody>
      </p:sp>
      <p:sp>
        <p:nvSpPr>
          <p:cNvPr id="15" name="Text 13"/>
          <p:cNvSpPr/>
          <p:nvPr/>
        </p:nvSpPr>
        <p:spPr>
          <a:xfrm>
            <a:off x="7315200" y="2834640"/>
            <a:ext cx="320040" cy="548640"/>
          </a:xfrm>
          <a:prstGeom prst="rect">
            <a:avLst/>
          </a:prstGeom>
          <a:noFill/>
          <a:ln/>
        </p:spPr>
        <p:txBody>
          <a:bodyPr wrap="square" rtlCol="0" anchor="ctr"/>
          <a:lstStyle/>
          <a:p>
            <a:pPr algn="ctr" indent="0" marL="0">
              <a:buNone/>
            </a:pPr>
            <a:r>
              <a:rPr lang="en-US" sz="2000" b="1" dirty="0">
                <a:solidFill>
                  <a:srgbClr val="5A617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635240" y="2377440"/>
            <a:ext cx="2011680" cy="1463040"/>
          </a:xfrm>
          <a:prstGeom prst="roundRect">
            <a:avLst>
              <a:gd name="adj" fmla="val 6250"/>
            </a:avLst>
          </a:prstGeom>
          <a:solidFill>
            <a:srgbClr val="E8B94A"/>
          </a:solidFill>
          <a:ln/>
        </p:spPr>
      </p:sp>
      <p:sp>
        <p:nvSpPr>
          <p:cNvPr id="17" name="Text 15"/>
          <p:cNvSpPr/>
          <p:nvPr/>
        </p:nvSpPr>
        <p:spPr>
          <a:xfrm>
            <a:off x="7635240" y="2487168"/>
            <a:ext cx="20116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Load to SQL</a:t>
            </a:r>
            <a:endParaRPr lang="en-US" sz="1400" dirty="0"/>
          </a:p>
        </p:txBody>
      </p:sp>
      <p:sp>
        <p:nvSpPr>
          <p:cNvPr id="18" name="Text 16"/>
          <p:cNvSpPr/>
          <p:nvPr/>
        </p:nvSpPr>
        <p:spPr>
          <a:xfrm>
            <a:off x="7726680" y="2880360"/>
            <a:ext cx="1828800" cy="868680"/>
          </a:xfrm>
          <a:prstGeom prst="rect">
            <a:avLst/>
          </a:prstGeom>
          <a:noFill/>
          <a:ln/>
        </p:spPr>
        <p:txBody>
          <a:bodyPr wrap="square"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SQLite: inspections</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 ratings tables</a:t>
            </a:r>
            <a:endParaRPr lang="en-US" sz="1050" dirty="0"/>
          </a:p>
        </p:txBody>
      </p:sp>
      <p:sp>
        <p:nvSpPr>
          <p:cNvPr id="19" name="Text 17"/>
          <p:cNvSpPr/>
          <p:nvPr/>
        </p:nvSpPr>
        <p:spPr>
          <a:xfrm>
            <a:off x="9646920" y="2834640"/>
            <a:ext cx="320040" cy="548640"/>
          </a:xfrm>
          <a:prstGeom prst="rect">
            <a:avLst/>
          </a:prstGeom>
          <a:noFill/>
          <a:ln/>
        </p:spPr>
        <p:txBody>
          <a:bodyPr wrap="square" rtlCol="0" anchor="ctr"/>
          <a:lstStyle/>
          <a:p>
            <a:pPr algn="ctr" indent="0" marL="0">
              <a:buNone/>
            </a:pPr>
            <a:r>
              <a:rPr lang="en-US" sz="2000" b="1" dirty="0">
                <a:solidFill>
                  <a:srgbClr val="5A6178"/>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966960" y="2377440"/>
            <a:ext cx="2011680" cy="1463040"/>
          </a:xfrm>
          <a:prstGeom prst="roundRect">
            <a:avLst>
              <a:gd name="adj" fmla="val 6250"/>
            </a:avLst>
          </a:prstGeom>
          <a:solidFill>
            <a:srgbClr val="D9784F"/>
          </a:solidFill>
          <a:ln/>
        </p:spPr>
      </p:sp>
      <p:sp>
        <p:nvSpPr>
          <p:cNvPr id="21" name="Text 19"/>
          <p:cNvSpPr/>
          <p:nvPr/>
        </p:nvSpPr>
        <p:spPr>
          <a:xfrm>
            <a:off x="9966960" y="2487168"/>
            <a:ext cx="20116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Query &amp; Visualize</a:t>
            </a:r>
            <a:endParaRPr lang="en-US" sz="1400" dirty="0"/>
          </a:p>
        </p:txBody>
      </p:sp>
      <p:sp>
        <p:nvSpPr>
          <p:cNvPr id="22" name="Text 20"/>
          <p:cNvSpPr/>
          <p:nvPr/>
        </p:nvSpPr>
        <p:spPr>
          <a:xfrm>
            <a:off x="10058400" y="2880360"/>
            <a:ext cx="1828800" cy="868680"/>
          </a:xfrm>
          <a:prstGeom prst="rect">
            <a:avLst/>
          </a:prstGeom>
          <a:noFill/>
          <a:ln/>
        </p:spPr>
        <p:txBody>
          <a:bodyPr wrap="square"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JOINs, aggregates,</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charts &amp; maps</a:t>
            </a:r>
            <a:endParaRPr lang="en-US" sz="1050" dirty="0"/>
          </a:p>
        </p:txBody>
      </p:sp>
      <p:sp>
        <p:nvSpPr>
          <p:cNvPr id="23" name="Text 21"/>
          <p:cNvSpPr/>
          <p:nvPr/>
        </p:nvSpPr>
        <p:spPr>
          <a:xfrm>
            <a:off x="640080" y="4297680"/>
            <a:ext cx="10515600" cy="457200"/>
          </a:xfrm>
          <a:prstGeom prst="rect">
            <a:avLst/>
          </a:prstGeom>
          <a:noFill/>
          <a:ln/>
        </p:spPr>
        <p:txBody>
          <a:bodyPr wrap="square" rtlCol="0" anchor="ctr"/>
          <a:lstStyle/>
          <a:p>
            <a:pPr algn="ctr" indent="0" marL="0">
              <a:buNone/>
            </a:pPr>
            <a:r>
              <a:rPr lang="en-US" sz="1300" i="1" dirty="0">
                <a:solidFill>
                  <a:srgbClr val="5A6178"/>
                </a:solidFill>
                <a:latin typeface="Calibri" pitchFamily="34" charset="0"/>
                <a:ea typeface="Calibri" pitchFamily="34" charset="-122"/>
                <a:cs typeface="Calibri" pitchFamily="34" charset="-120"/>
              </a:rPr>
              <a:t>Two datasets, two collection methods, one shared key: restaurant name + ZIP code.</a:t>
            </a:r>
            <a:endParaRPr lang="en-US" sz="1300" dirty="0"/>
          </a:p>
        </p:txBody>
      </p:sp>
      <p:sp>
        <p:nvSpPr>
          <p:cNvPr id="24" name="Text 22"/>
          <p:cNvSpPr/>
          <p:nvPr/>
        </p:nvSpPr>
        <p:spPr>
          <a:xfrm>
            <a:off x="1097280" y="5029200"/>
            <a:ext cx="2011680" cy="82296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a:t>
            </a:r>
            <a:endParaRPr lang="en-US" sz="4000" dirty="0"/>
          </a:p>
        </p:txBody>
      </p:sp>
      <p:sp>
        <p:nvSpPr>
          <p:cNvPr id="25" name="Text 23"/>
          <p:cNvSpPr/>
          <p:nvPr/>
        </p:nvSpPr>
        <p:spPr>
          <a:xfrm>
            <a:off x="1097280" y="5806440"/>
            <a:ext cx="2011680" cy="548640"/>
          </a:xfrm>
          <a:prstGeom prst="rect">
            <a:avLst/>
          </a:prstGeom>
          <a:noFill/>
          <a:ln/>
        </p:spPr>
        <p:txBody>
          <a:bodyPr wrap="square" rtlCol="0" anchor="ctr"/>
          <a:lstStyle/>
          <a:p>
            <a:pPr algn="ctr" indent="0" marL="0">
              <a:buNone/>
            </a:pPr>
            <a:r>
              <a:rPr lang="en-US" sz="1200" dirty="0">
                <a:solidFill>
                  <a:srgbClr val="5A6178"/>
                </a:solidFill>
                <a:latin typeface="Calibri" pitchFamily="34" charset="0"/>
                <a:ea typeface="Calibri" pitchFamily="34" charset="-122"/>
                <a:cs typeface="Calibri" pitchFamily="34" charset="-120"/>
              </a:rPr>
              <a:t>Data sources</a:t>
            </a:r>
            <a:endParaRPr lang="en-US" sz="1200" dirty="0"/>
          </a:p>
          <a:p>
            <a:pPr algn="ctr" indent="0" marL="0">
              <a:buNone/>
            </a:pPr>
            <a:r>
              <a:rPr lang="en-US" sz="1200" dirty="0">
                <a:solidFill>
                  <a:srgbClr val="5A6178"/>
                </a:solidFill>
                <a:latin typeface="Calibri" pitchFamily="34" charset="0"/>
                <a:ea typeface="Calibri" pitchFamily="34" charset="-122"/>
                <a:cs typeface="Calibri" pitchFamily="34" charset="-120"/>
              </a:rPr>
              <a:t>integrated</a:t>
            </a:r>
            <a:endParaRPr lang="en-US" sz="1200" dirty="0"/>
          </a:p>
        </p:txBody>
      </p:sp>
      <p:sp>
        <p:nvSpPr>
          <p:cNvPr id="26" name="Text 24"/>
          <p:cNvSpPr/>
          <p:nvPr/>
        </p:nvSpPr>
        <p:spPr>
          <a:xfrm>
            <a:off x="4572000" y="5029200"/>
            <a:ext cx="2011680" cy="82296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35K+</a:t>
            </a:r>
            <a:endParaRPr lang="en-US" sz="4000" dirty="0"/>
          </a:p>
        </p:txBody>
      </p:sp>
      <p:sp>
        <p:nvSpPr>
          <p:cNvPr id="27" name="Text 25"/>
          <p:cNvSpPr/>
          <p:nvPr/>
        </p:nvSpPr>
        <p:spPr>
          <a:xfrm>
            <a:off x="4572000" y="5806440"/>
            <a:ext cx="2011680" cy="548640"/>
          </a:xfrm>
          <a:prstGeom prst="rect">
            <a:avLst/>
          </a:prstGeom>
          <a:noFill/>
          <a:ln/>
        </p:spPr>
        <p:txBody>
          <a:bodyPr wrap="square" rtlCol="0" anchor="ctr"/>
          <a:lstStyle/>
          <a:p>
            <a:pPr algn="ctr" indent="0" marL="0">
              <a:buNone/>
            </a:pPr>
            <a:r>
              <a:rPr lang="en-US" sz="1200" dirty="0">
                <a:solidFill>
                  <a:srgbClr val="5A6178"/>
                </a:solidFill>
                <a:latin typeface="Calibri" pitchFamily="34" charset="0"/>
                <a:ea typeface="Calibri" pitchFamily="34" charset="-122"/>
                <a:cs typeface="Calibri" pitchFamily="34" charset="-120"/>
              </a:rPr>
              <a:t>API records</a:t>
            </a:r>
            <a:endParaRPr lang="en-US" sz="1200" dirty="0"/>
          </a:p>
          <a:p>
            <a:pPr algn="ctr" indent="0" marL="0">
              <a:buNone/>
            </a:pPr>
            <a:r>
              <a:rPr lang="en-US" sz="1200" dirty="0">
                <a:solidFill>
                  <a:srgbClr val="5A6178"/>
                </a:solidFill>
                <a:latin typeface="Calibri" pitchFamily="34" charset="0"/>
                <a:ea typeface="Calibri" pitchFamily="34" charset="-122"/>
                <a:cs typeface="Calibri" pitchFamily="34" charset="-120"/>
              </a:rPr>
              <a:t>collected</a:t>
            </a:r>
            <a:endParaRPr lang="en-US" sz="1200" dirty="0"/>
          </a:p>
        </p:txBody>
      </p:sp>
      <p:sp>
        <p:nvSpPr>
          <p:cNvPr id="28" name="Text 26"/>
          <p:cNvSpPr/>
          <p:nvPr/>
        </p:nvSpPr>
        <p:spPr>
          <a:xfrm>
            <a:off x="8046720" y="5029200"/>
            <a:ext cx="2011680" cy="82296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8</a:t>
            </a:r>
            <a:endParaRPr lang="en-US" sz="4000" dirty="0"/>
          </a:p>
        </p:txBody>
      </p:sp>
      <p:sp>
        <p:nvSpPr>
          <p:cNvPr id="29" name="Text 27"/>
          <p:cNvSpPr/>
          <p:nvPr/>
        </p:nvSpPr>
        <p:spPr>
          <a:xfrm>
            <a:off x="8046720" y="5806440"/>
            <a:ext cx="2011680" cy="548640"/>
          </a:xfrm>
          <a:prstGeom prst="rect">
            <a:avLst/>
          </a:prstGeom>
          <a:noFill/>
          <a:ln/>
        </p:spPr>
        <p:txBody>
          <a:bodyPr wrap="square" rtlCol="0" anchor="ctr"/>
          <a:lstStyle/>
          <a:p>
            <a:pPr algn="ctr" indent="0" marL="0">
              <a:buNone/>
            </a:pPr>
            <a:r>
              <a:rPr lang="en-US" sz="1200" dirty="0">
                <a:solidFill>
                  <a:srgbClr val="5A6178"/>
                </a:solidFill>
                <a:latin typeface="Calibri" pitchFamily="34" charset="0"/>
                <a:ea typeface="Calibri" pitchFamily="34" charset="-122"/>
                <a:cs typeface="Calibri" pitchFamily="34" charset="-120"/>
              </a:rPr>
              <a:t>Guided exercises</a:t>
            </a:r>
            <a:endParaRPr lang="en-US" sz="1200" dirty="0"/>
          </a:p>
          <a:p>
            <a:pPr algn="ctr" indent="0" marL="0">
              <a:buNone/>
            </a:pPr>
            <a:r>
              <a:rPr lang="en-US" sz="1200" dirty="0">
                <a:solidFill>
                  <a:srgbClr val="5A6178"/>
                </a:solidFill>
                <a:latin typeface="Calibri" pitchFamily="34" charset="0"/>
                <a:ea typeface="Calibri" pitchFamily="34" charset="-122"/>
                <a:cs typeface="Calibri" pitchFamily="34" charset="-120"/>
              </a:rPr>
              <a:t>completed</a:t>
            </a:r>
            <a:endParaRPr lang="en-US" sz="1200" dirty="0"/>
          </a:p>
        </p:txBody>
      </p:sp>
      <p:sp>
        <p:nvSpPr>
          <p:cNvPr id="30"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Getting the Data Analysis-Ready</a:t>
            </a:r>
            <a:endParaRPr lang="en-US" sz="2800" dirty="0"/>
          </a:p>
        </p:txBody>
      </p:sp>
      <p:sp>
        <p:nvSpPr>
          <p:cNvPr id="4" name="Shape 2"/>
          <p:cNvSpPr/>
          <p:nvPr/>
        </p:nvSpPr>
        <p:spPr>
          <a:xfrm>
            <a:off x="548640" y="1554480"/>
            <a:ext cx="3474720" cy="4480560"/>
          </a:xfrm>
          <a:prstGeom prst="roundRect">
            <a:avLst>
              <a:gd name="adj" fmla="val 2632"/>
            </a:avLst>
          </a:prstGeom>
          <a:solidFill>
            <a:srgbClr val="FAFBFD"/>
          </a:solidFill>
          <a:ln w="12700">
            <a:solidFill>
              <a:srgbClr val="CADCFC"/>
            </a:solidFill>
            <a:prstDash val="solid"/>
          </a:ln>
        </p:spPr>
      </p:sp>
      <p:sp>
        <p:nvSpPr>
          <p:cNvPr id="5" name="Text 3"/>
          <p:cNvSpPr/>
          <p:nvPr/>
        </p:nvSpPr>
        <p:spPr>
          <a:xfrm>
            <a:off x="777240" y="1783080"/>
            <a:ext cx="301752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Inspections Table</a:t>
            </a:r>
            <a:endParaRPr lang="en-US" sz="1500" dirty="0"/>
          </a:p>
        </p:txBody>
      </p:sp>
      <p:sp>
        <p:nvSpPr>
          <p:cNvPr id="6" name="Text 4"/>
          <p:cNvSpPr/>
          <p:nvPr/>
        </p:nvSpPr>
        <p:spPr>
          <a:xfrm>
            <a:off x="777240" y="23774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097280" y="23317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Convert dates to datetime</a:t>
            </a:r>
            <a:endParaRPr lang="en-US" sz="1150" dirty="0"/>
          </a:p>
        </p:txBody>
      </p:sp>
      <p:sp>
        <p:nvSpPr>
          <p:cNvPr id="8" name="Text 6"/>
          <p:cNvSpPr/>
          <p:nvPr/>
        </p:nvSpPr>
        <p:spPr>
          <a:xfrm>
            <a:off x="777240" y="30632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097280" y="30175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Validate score &amp; grade fields</a:t>
            </a:r>
            <a:endParaRPr lang="en-US" sz="1150" dirty="0"/>
          </a:p>
        </p:txBody>
      </p:sp>
      <p:sp>
        <p:nvSpPr>
          <p:cNvPr id="10" name="Text 8"/>
          <p:cNvSpPr/>
          <p:nvPr/>
        </p:nvSpPr>
        <p:spPr>
          <a:xfrm>
            <a:off x="777240" y="37490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097280" y="37033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Check dtypes across 20+ columns</a:t>
            </a:r>
            <a:endParaRPr lang="en-US" sz="1150" dirty="0"/>
          </a:p>
        </p:txBody>
      </p:sp>
      <p:sp>
        <p:nvSpPr>
          <p:cNvPr id="12" name="Shape 10"/>
          <p:cNvSpPr/>
          <p:nvPr/>
        </p:nvSpPr>
        <p:spPr>
          <a:xfrm>
            <a:off x="4297680" y="1554480"/>
            <a:ext cx="3474720" cy="4480560"/>
          </a:xfrm>
          <a:prstGeom prst="roundRect">
            <a:avLst>
              <a:gd name="adj" fmla="val 2632"/>
            </a:avLst>
          </a:prstGeom>
          <a:solidFill>
            <a:srgbClr val="F4F6FB"/>
          </a:solidFill>
          <a:ln w="12700">
            <a:solidFill>
              <a:srgbClr val="CADCFC"/>
            </a:solidFill>
            <a:prstDash val="solid"/>
          </a:ln>
        </p:spPr>
      </p:sp>
      <p:sp>
        <p:nvSpPr>
          <p:cNvPr id="13" name="Text 11"/>
          <p:cNvSpPr/>
          <p:nvPr/>
        </p:nvSpPr>
        <p:spPr>
          <a:xfrm>
            <a:off x="4526280" y="1783080"/>
            <a:ext cx="301752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Ratings Table</a:t>
            </a:r>
            <a:endParaRPr lang="en-US" sz="1500" dirty="0"/>
          </a:p>
        </p:txBody>
      </p:sp>
      <p:sp>
        <p:nvSpPr>
          <p:cNvPr id="14" name="Text 12"/>
          <p:cNvSpPr/>
          <p:nvPr/>
        </p:nvSpPr>
        <p:spPr>
          <a:xfrm>
            <a:off x="4526280" y="23774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4846320" y="23317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Standardize restaurant names (case, special chars)</a:t>
            </a:r>
            <a:endParaRPr lang="en-US" sz="1150" dirty="0"/>
          </a:p>
        </p:txBody>
      </p:sp>
      <p:sp>
        <p:nvSpPr>
          <p:cNvPr id="16" name="Text 14"/>
          <p:cNvSpPr/>
          <p:nvPr/>
        </p:nvSpPr>
        <p:spPr>
          <a:xfrm>
            <a:off x="4526280" y="30632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4846320" y="30175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Convert $ price symbols to numeric 0–5 scale</a:t>
            </a:r>
            <a:endParaRPr lang="en-US" sz="1150" dirty="0"/>
          </a:p>
        </p:txBody>
      </p:sp>
      <p:sp>
        <p:nvSpPr>
          <p:cNvPr id="18" name="Text 16"/>
          <p:cNvSpPr/>
          <p:nvPr/>
        </p:nvSpPr>
        <p:spPr>
          <a:xfrm>
            <a:off x="4526280" y="37490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4846320" y="37033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Extract ZIP code from address text</a:t>
            </a:r>
            <a:endParaRPr lang="en-US" sz="1150" dirty="0"/>
          </a:p>
        </p:txBody>
      </p:sp>
      <p:sp>
        <p:nvSpPr>
          <p:cNvPr id="20" name="Text 18"/>
          <p:cNvSpPr/>
          <p:nvPr/>
        </p:nvSpPr>
        <p:spPr>
          <a:xfrm>
            <a:off x="4526280" y="44348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4846320" y="43891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Cast price_level &amp; zip_code to Int64</a:t>
            </a:r>
            <a:endParaRPr lang="en-US" sz="1150" dirty="0"/>
          </a:p>
        </p:txBody>
      </p:sp>
      <p:sp>
        <p:nvSpPr>
          <p:cNvPr id="22" name="Shape 20"/>
          <p:cNvSpPr/>
          <p:nvPr/>
        </p:nvSpPr>
        <p:spPr>
          <a:xfrm>
            <a:off x="8046720" y="1554480"/>
            <a:ext cx="3474720" cy="4480560"/>
          </a:xfrm>
          <a:prstGeom prst="roundRect">
            <a:avLst>
              <a:gd name="adj" fmla="val 2632"/>
            </a:avLst>
          </a:prstGeom>
          <a:solidFill>
            <a:srgbClr val="FAFBFD"/>
          </a:solidFill>
          <a:ln w="12700">
            <a:solidFill>
              <a:srgbClr val="CADCFC"/>
            </a:solidFill>
            <a:prstDash val="solid"/>
          </a:ln>
        </p:spPr>
      </p:sp>
      <p:sp>
        <p:nvSpPr>
          <p:cNvPr id="23" name="Text 21"/>
          <p:cNvSpPr/>
          <p:nvPr/>
        </p:nvSpPr>
        <p:spPr>
          <a:xfrm>
            <a:off x="8275320" y="1783080"/>
            <a:ext cx="301752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Quality Checks</a:t>
            </a:r>
            <a:endParaRPr lang="en-US" sz="1500" dirty="0"/>
          </a:p>
        </p:txBody>
      </p:sp>
      <p:sp>
        <p:nvSpPr>
          <p:cNvPr id="24" name="Text 22"/>
          <p:cNvSpPr/>
          <p:nvPr/>
        </p:nvSpPr>
        <p:spPr>
          <a:xfrm>
            <a:off x="8275320" y="23774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8595360" y="23317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Drop duplicate records</a:t>
            </a:r>
            <a:endParaRPr lang="en-US" sz="1150" dirty="0"/>
          </a:p>
        </p:txBody>
      </p:sp>
      <p:sp>
        <p:nvSpPr>
          <p:cNvPr id="26" name="Text 24"/>
          <p:cNvSpPr/>
          <p:nvPr/>
        </p:nvSpPr>
        <p:spPr>
          <a:xfrm>
            <a:off x="8275320" y="30632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8595360" y="30175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Remove ZIP codes outside NYC (10001–11697)</a:t>
            </a:r>
            <a:endParaRPr lang="en-US" sz="1150" dirty="0"/>
          </a:p>
        </p:txBody>
      </p:sp>
      <p:sp>
        <p:nvSpPr>
          <p:cNvPr id="28" name="Text 26"/>
          <p:cNvSpPr/>
          <p:nvPr/>
        </p:nvSpPr>
        <p:spPr>
          <a:xfrm>
            <a:off x="8275320" y="3749040"/>
            <a:ext cx="274320" cy="548640"/>
          </a:xfrm>
          <a:prstGeom prst="rect">
            <a:avLst/>
          </a:prstGeom>
          <a:noFill/>
          <a:ln/>
        </p:spPr>
        <p:txBody>
          <a:bodyPr wrap="square" rtlCol="0" anchor="ctr"/>
          <a:lstStyle/>
          <a:p>
            <a:pPr indent="0" marL="0">
              <a:buNone/>
            </a:pPr>
            <a:r>
              <a:rPr lang="en-US" sz="1300" b="1" dirty="0">
                <a:solidFill>
                  <a:srgbClr val="3F8C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8595360" y="3703320"/>
            <a:ext cx="2743200" cy="640080"/>
          </a:xfrm>
          <a:prstGeom prst="rect">
            <a:avLst/>
          </a:prstGeom>
          <a:noFill/>
          <a:ln/>
        </p:spPr>
        <p:txBody>
          <a:bodyPr wrap="square" rtlCol="0" anchor="t"/>
          <a:lstStyle/>
          <a:p>
            <a:pPr indent="0" marL="0">
              <a:buNone/>
            </a:pPr>
            <a:r>
              <a:rPr lang="en-US" sz="1150" dirty="0">
                <a:solidFill>
                  <a:srgbClr val="333333"/>
                </a:solidFill>
                <a:latin typeface="Calibri" pitchFamily="34" charset="0"/>
                <a:ea typeface="Calibri" pitchFamily="34" charset="-122"/>
                <a:cs typeface="Calibri" pitchFamily="34" charset="-120"/>
              </a:rPr>
              <a:t>Confirm row counts before/after cleaning</a:t>
            </a:r>
            <a:endParaRPr lang="en-US" sz="1150" dirty="0"/>
          </a:p>
        </p:txBody>
      </p:sp>
      <p:sp>
        <p:nvSpPr>
          <p:cNvPr id="30"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FINDING 1</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Inspection Scores Vary by Cuisine Type</a:t>
            </a:r>
            <a:endParaRPr lang="en-US" sz="2800" dirty="0"/>
          </a:p>
        </p:txBody>
      </p:sp>
      <p:sp>
        <p:nvSpPr>
          <p:cNvPr id="4" name="Text 2"/>
          <p:cNvSpPr/>
          <p:nvPr/>
        </p:nvSpPr>
        <p:spPr>
          <a:xfrm>
            <a:off x="548640" y="1417320"/>
            <a:ext cx="10789920" cy="365760"/>
          </a:xfrm>
          <a:prstGeom prst="rect">
            <a:avLst/>
          </a:prstGeom>
          <a:noFill/>
          <a:ln/>
        </p:spPr>
        <p:txBody>
          <a:bodyPr wrap="square" rtlCol="0" anchor="ctr"/>
          <a:lstStyle/>
          <a:p>
            <a:pPr indent="0" marL="0">
              <a:buNone/>
            </a:pPr>
            <a:r>
              <a:rPr lang="en-US" sz="1200" i="1" dirty="0">
                <a:solidFill>
                  <a:srgbClr val="5A6178"/>
                </a:solidFill>
                <a:latin typeface="Calibri" pitchFamily="34" charset="0"/>
                <a:ea typeface="Calibri" pitchFamily="34" charset="-122"/>
                <a:cs typeface="Calibri" pitchFamily="34" charset="-120"/>
              </a:rPr>
              <a:t>Lower score = better. Cuisines are graded A (&lt;14), B (14–27), C (&gt;27) by average score.</a:t>
            </a:r>
            <a:endParaRPr lang="en-US" sz="1200" dirty="0"/>
          </a:p>
        </p:txBody>
      </p:sp>
      <p:graphicFrame>
        <p:nvGraphicFramePr>
          <p:cNvPr id="5" name="Chart 0" descr=""/>
          <p:cNvGraphicFramePr/>
          <p:nvPr/>
        </p:nvGraphicFramePr>
        <p:xfrm>
          <a:off x="548640" y="187452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1874520"/>
            <a:ext cx="3474720" cy="4297680"/>
          </a:xfrm>
          <a:prstGeom prst="roundRect">
            <a:avLst>
              <a:gd name="adj" fmla="val 2632"/>
            </a:avLst>
          </a:prstGeom>
          <a:solidFill>
            <a:srgbClr val="F4F6FB"/>
          </a:solidFill>
          <a:ln w="12700">
            <a:solidFill>
              <a:srgbClr val="CADCFC"/>
            </a:solidFill>
            <a:prstDash val="solid"/>
          </a:ln>
        </p:spPr>
      </p:sp>
      <p:sp>
        <p:nvSpPr>
          <p:cNvPr id="7" name="Text 4"/>
          <p:cNvSpPr/>
          <p:nvPr/>
        </p:nvSpPr>
        <p:spPr>
          <a:xfrm>
            <a:off x="8366760" y="2103120"/>
            <a:ext cx="301752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Takeaway</a:t>
            </a:r>
            <a:endParaRPr lang="en-US" sz="1400" dirty="0"/>
          </a:p>
        </p:txBody>
      </p:sp>
      <p:sp>
        <p:nvSpPr>
          <p:cNvPr id="8" name="Text 5"/>
          <p:cNvSpPr/>
          <p:nvPr/>
        </p:nvSpPr>
        <p:spPr>
          <a:xfrm>
            <a:off x="8366760" y="2514600"/>
            <a:ext cx="3017520" cy="32918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Bakeries, cafés, and juice bars consistently post the lowest (best) average scores, while Caribbean and Mexican cuisines trend higher-risk — a clear signal for where to focus targeted client guidance.</a:t>
            </a:r>
            <a:endParaRPr lang="en-US" sz="1200" dirty="0"/>
          </a:p>
        </p:txBody>
      </p:sp>
      <p:sp>
        <p:nvSpPr>
          <p:cNvPr id="9" name="Text 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FINDING 2</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Price Level Does Not Predict Compliance</a:t>
            </a:r>
            <a:endParaRPr lang="en-US" sz="2800" dirty="0"/>
          </a:p>
        </p:txBody>
      </p:sp>
      <p:sp>
        <p:nvSpPr>
          <p:cNvPr id="4" name="Text 2"/>
          <p:cNvSpPr/>
          <p:nvPr/>
        </p:nvSpPr>
        <p:spPr>
          <a:xfrm>
            <a:off x="548640" y="1417320"/>
            <a:ext cx="10789920" cy="365760"/>
          </a:xfrm>
          <a:prstGeom prst="rect">
            <a:avLst/>
          </a:prstGeom>
          <a:noFill/>
          <a:ln/>
        </p:spPr>
        <p:txBody>
          <a:bodyPr wrap="square" rtlCol="0" anchor="ctr"/>
          <a:lstStyle/>
          <a:p>
            <a:pPr indent="0" marL="0">
              <a:buNone/>
            </a:pPr>
            <a:r>
              <a:rPr lang="en-US" sz="1200" i="1" dirty="0">
                <a:solidFill>
                  <a:srgbClr val="5A6178"/>
                </a:solidFill>
                <a:latin typeface="Calibri" pitchFamily="34" charset="0"/>
                <a:ea typeface="Calibri" pitchFamily="34" charset="-122"/>
                <a:cs typeface="Calibri" pitchFamily="34" charset="-120"/>
              </a:rPr>
              <a:t>Score distributions overlap heavily across price tiers — no clean linear trend.</a:t>
            </a:r>
            <a:endParaRPr lang="en-US" sz="1200" dirty="0"/>
          </a:p>
        </p:txBody>
      </p:sp>
      <p:graphicFrame>
        <p:nvGraphicFramePr>
          <p:cNvPr id="5" name="Chart 0" descr=""/>
          <p:cNvGraphicFramePr/>
          <p:nvPr/>
        </p:nvGraphicFramePr>
        <p:xfrm>
          <a:off x="548640" y="187452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874520"/>
            <a:ext cx="3840480" cy="4297680"/>
          </a:xfrm>
          <a:prstGeom prst="roundRect">
            <a:avLst>
              <a:gd name="adj" fmla="val 2381"/>
            </a:avLst>
          </a:prstGeom>
          <a:solidFill>
            <a:srgbClr val="FFF7E8"/>
          </a:solidFill>
          <a:ln w="12700">
            <a:solidFill>
              <a:srgbClr val="E8B94A"/>
            </a:solidFill>
            <a:prstDash val="solid"/>
          </a:ln>
        </p:spPr>
      </p:sp>
      <p:sp>
        <p:nvSpPr>
          <p:cNvPr id="7" name="Text 4"/>
          <p:cNvSpPr/>
          <p:nvPr/>
        </p:nvSpPr>
        <p:spPr>
          <a:xfrm>
            <a:off x="8001000" y="2103120"/>
            <a:ext cx="3383280" cy="365760"/>
          </a:xfrm>
          <a:prstGeom prst="rect">
            <a:avLst/>
          </a:prstGeom>
          <a:noFill/>
          <a:ln/>
        </p:spPr>
        <p:txBody>
          <a:bodyPr wrap="square" rtlCol="0" anchor="ctr"/>
          <a:lstStyle/>
          <a:p>
            <a:pPr indent="0" marL="0">
              <a:buNone/>
            </a:pPr>
            <a:r>
              <a:rPr lang="en-US" sz="1400" b="1" dirty="0">
                <a:solidFill>
                  <a:srgbClr val="8A6A1E"/>
                </a:solidFill>
                <a:latin typeface="Calibri" pitchFamily="34" charset="0"/>
                <a:ea typeface="Calibri" pitchFamily="34" charset="-122"/>
                <a:cs typeface="Calibri" pitchFamily="34" charset="-120"/>
              </a:rPr>
              <a:t>Takeaway</a:t>
            </a:r>
            <a:endParaRPr lang="en-US" sz="1400" dirty="0"/>
          </a:p>
        </p:txBody>
      </p:sp>
      <p:sp>
        <p:nvSpPr>
          <p:cNvPr id="8" name="Text 5"/>
          <p:cNvSpPr/>
          <p:nvPr/>
        </p:nvSpPr>
        <p:spPr>
          <a:xfrm>
            <a:off x="8001000" y="2514600"/>
            <a:ext cx="3383280" cy="32918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Higher-priced restaurants are not automatically safer bets. Median scores stay in a similar band across all five price tiers, so clients shouldn't assume premium pricing reduces inspection risk — operational discipline matters more than price positioning.</a:t>
            </a:r>
            <a:endParaRPr lang="en-US" sz="1200" dirty="0"/>
          </a:p>
        </p:txBody>
      </p:sp>
      <p:sp>
        <p:nvSpPr>
          <p:cNvPr id="9" name="Text 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FINDING 3</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Pass Rates Differ Sharply by Inspection Type</a:t>
            </a:r>
            <a:endParaRPr lang="en-US" sz="2800" dirty="0"/>
          </a:p>
        </p:txBody>
      </p:sp>
      <p:sp>
        <p:nvSpPr>
          <p:cNvPr id="4" name="Text 2"/>
          <p:cNvSpPr/>
          <p:nvPr/>
        </p:nvSpPr>
        <p:spPr>
          <a:xfrm>
            <a:off x="548640" y="1417320"/>
            <a:ext cx="10789920" cy="365760"/>
          </a:xfrm>
          <a:prstGeom prst="rect">
            <a:avLst/>
          </a:prstGeom>
          <a:noFill/>
          <a:ln/>
        </p:spPr>
        <p:txBody>
          <a:bodyPr wrap="square" rtlCol="0" anchor="ctr"/>
          <a:lstStyle/>
          <a:p>
            <a:pPr indent="0" marL="0">
              <a:buNone/>
            </a:pPr>
            <a:r>
              <a:rPr lang="en-US" sz="1200" i="1" dirty="0">
                <a:solidFill>
                  <a:srgbClr val="5A6178"/>
                </a:solidFill>
                <a:latin typeface="Calibri" pitchFamily="34" charset="0"/>
                <a:ea typeface="Calibri" pitchFamily="34" charset="-122"/>
                <a:cs typeface="Calibri" pitchFamily="34" charset="-120"/>
              </a:rPr>
              <a:t>Pass rate = % of inspections scoring ≤13 (Grade A threshold).</a:t>
            </a:r>
            <a:endParaRPr lang="en-US" sz="1200" dirty="0"/>
          </a:p>
        </p:txBody>
      </p:sp>
      <p:graphicFrame>
        <p:nvGraphicFramePr>
          <p:cNvPr id="5" name="Chart 0" descr=""/>
          <p:cNvGraphicFramePr/>
          <p:nvPr/>
        </p:nvGraphicFramePr>
        <p:xfrm>
          <a:off x="548640" y="187452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1874520"/>
            <a:ext cx="3474720" cy="4297680"/>
          </a:xfrm>
          <a:prstGeom prst="roundRect">
            <a:avLst>
              <a:gd name="adj" fmla="val 2632"/>
            </a:avLst>
          </a:prstGeom>
          <a:solidFill>
            <a:srgbClr val="F4F6FB"/>
          </a:solidFill>
          <a:ln w="12700">
            <a:solidFill>
              <a:srgbClr val="CADCFC"/>
            </a:solidFill>
            <a:prstDash val="solid"/>
          </a:ln>
        </p:spPr>
      </p:sp>
      <p:sp>
        <p:nvSpPr>
          <p:cNvPr id="7" name="Text 4"/>
          <p:cNvSpPr/>
          <p:nvPr/>
        </p:nvSpPr>
        <p:spPr>
          <a:xfrm>
            <a:off x="8366760" y="2103120"/>
            <a:ext cx="301752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Takeaway</a:t>
            </a:r>
            <a:endParaRPr lang="en-US" sz="1400" dirty="0"/>
          </a:p>
        </p:txBody>
      </p:sp>
      <p:sp>
        <p:nvSpPr>
          <p:cNvPr id="8" name="Text 5"/>
          <p:cNvSpPr/>
          <p:nvPr/>
        </p:nvSpPr>
        <p:spPr>
          <a:xfrm>
            <a:off x="8366760" y="2514600"/>
            <a:ext cx="3017520" cy="32918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Administrative and equipment-related pre-permit inspections have the lowest pass rates. Clients should use inspection-type-specific prep checklists rather than one generic playbook.</a:t>
            </a:r>
            <a:endParaRPr lang="en-US" sz="1200" dirty="0"/>
          </a:p>
        </p:txBody>
      </p:sp>
      <p:sp>
        <p:nvSpPr>
          <p:cNvPr id="9" name="Text 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Clients Should Do Next</a:t>
            </a:r>
            <a:endParaRPr lang="en-US" sz="2800" dirty="0"/>
          </a:p>
        </p:txBody>
      </p:sp>
      <p:sp>
        <p:nvSpPr>
          <p:cNvPr id="4" name="Shape 2"/>
          <p:cNvSpPr/>
          <p:nvPr/>
        </p:nvSpPr>
        <p:spPr>
          <a:xfrm>
            <a:off x="640080" y="1737360"/>
            <a:ext cx="5212080" cy="1965960"/>
          </a:xfrm>
          <a:prstGeom prst="roundRect">
            <a:avLst>
              <a:gd name="adj" fmla="val 4651"/>
            </a:avLst>
          </a:prstGeom>
          <a:solidFill>
            <a:srgbClr val="27306B"/>
          </a:solidFill>
          <a:ln/>
        </p:spPr>
      </p:sp>
      <p:sp>
        <p:nvSpPr>
          <p:cNvPr id="5" name="Text 3"/>
          <p:cNvSpPr/>
          <p:nvPr/>
        </p:nvSpPr>
        <p:spPr>
          <a:xfrm>
            <a:off x="914400" y="1920240"/>
            <a:ext cx="1097280" cy="640080"/>
          </a:xfrm>
          <a:prstGeom prst="rect">
            <a:avLst/>
          </a:prstGeom>
          <a:noFill/>
          <a:ln/>
        </p:spPr>
        <p:txBody>
          <a:bodyPr wrap="square" rtlCol="0" anchor="ctr"/>
          <a:lstStyle/>
          <a:p>
            <a:pPr indent="0" marL="0">
              <a:buNone/>
            </a:pPr>
            <a:r>
              <a:rPr lang="en-US" sz="3000" b="1" dirty="0">
                <a:solidFill>
                  <a:srgbClr val="3F8CFF"/>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914400" y="2514600"/>
            <a:ext cx="46634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Segment by Cuisine</a:t>
            </a:r>
            <a:endParaRPr lang="en-US" sz="1500" dirty="0"/>
          </a:p>
        </p:txBody>
      </p:sp>
      <p:sp>
        <p:nvSpPr>
          <p:cNvPr id="7" name="Text 5"/>
          <p:cNvSpPr/>
          <p:nvPr/>
        </p:nvSpPr>
        <p:spPr>
          <a:xfrm>
            <a:off x="914400" y="2926080"/>
            <a:ext cx="4663440" cy="68580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Give higher-risk cuisines (Caribbean, Mexican) a more rigorous pre-inspection checklist.</a:t>
            </a:r>
            <a:endParaRPr lang="en-US" sz="1150" dirty="0"/>
          </a:p>
        </p:txBody>
      </p:sp>
      <p:sp>
        <p:nvSpPr>
          <p:cNvPr id="8" name="Shape 6"/>
          <p:cNvSpPr/>
          <p:nvPr/>
        </p:nvSpPr>
        <p:spPr>
          <a:xfrm>
            <a:off x="6217920" y="1737360"/>
            <a:ext cx="5212080" cy="1965960"/>
          </a:xfrm>
          <a:prstGeom prst="roundRect">
            <a:avLst>
              <a:gd name="adj" fmla="val 4651"/>
            </a:avLst>
          </a:prstGeom>
          <a:solidFill>
            <a:srgbClr val="27306B"/>
          </a:solidFill>
          <a:ln/>
        </p:spPr>
      </p:sp>
      <p:sp>
        <p:nvSpPr>
          <p:cNvPr id="9" name="Text 7"/>
          <p:cNvSpPr/>
          <p:nvPr/>
        </p:nvSpPr>
        <p:spPr>
          <a:xfrm>
            <a:off x="6492240" y="1920240"/>
            <a:ext cx="1097280" cy="640080"/>
          </a:xfrm>
          <a:prstGeom prst="rect">
            <a:avLst/>
          </a:prstGeom>
          <a:noFill/>
          <a:ln/>
        </p:spPr>
        <p:txBody>
          <a:bodyPr wrap="square" rtlCol="0" anchor="ctr"/>
          <a:lstStyle/>
          <a:p>
            <a:pPr indent="0" marL="0">
              <a:buNone/>
            </a:pPr>
            <a:r>
              <a:rPr lang="en-US" sz="3000" b="1" dirty="0">
                <a:solidFill>
                  <a:srgbClr val="3F8CFF"/>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6492240" y="2514600"/>
            <a:ext cx="46634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Don't Rely on Price</a:t>
            </a:r>
            <a:endParaRPr lang="en-US" sz="1500" dirty="0"/>
          </a:p>
        </p:txBody>
      </p:sp>
      <p:sp>
        <p:nvSpPr>
          <p:cNvPr id="11" name="Text 9"/>
          <p:cNvSpPr/>
          <p:nvPr/>
        </p:nvSpPr>
        <p:spPr>
          <a:xfrm>
            <a:off x="6492240" y="2926080"/>
            <a:ext cx="4663440" cy="68580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Audit high-price clients with the same rigor as budget clients — pricing doesn't buy compliance.</a:t>
            </a:r>
            <a:endParaRPr lang="en-US" sz="1150" dirty="0"/>
          </a:p>
        </p:txBody>
      </p:sp>
      <p:sp>
        <p:nvSpPr>
          <p:cNvPr id="12" name="Shape 10"/>
          <p:cNvSpPr/>
          <p:nvPr/>
        </p:nvSpPr>
        <p:spPr>
          <a:xfrm>
            <a:off x="640080" y="4023360"/>
            <a:ext cx="5212080" cy="1965960"/>
          </a:xfrm>
          <a:prstGeom prst="roundRect">
            <a:avLst>
              <a:gd name="adj" fmla="val 4651"/>
            </a:avLst>
          </a:prstGeom>
          <a:solidFill>
            <a:srgbClr val="27306B"/>
          </a:solidFill>
          <a:ln/>
        </p:spPr>
      </p:sp>
      <p:sp>
        <p:nvSpPr>
          <p:cNvPr id="13" name="Text 11"/>
          <p:cNvSpPr/>
          <p:nvPr/>
        </p:nvSpPr>
        <p:spPr>
          <a:xfrm>
            <a:off x="914400" y="4206240"/>
            <a:ext cx="1097280" cy="640080"/>
          </a:xfrm>
          <a:prstGeom prst="rect">
            <a:avLst/>
          </a:prstGeom>
          <a:noFill/>
          <a:ln/>
        </p:spPr>
        <p:txBody>
          <a:bodyPr wrap="square" rtlCol="0" anchor="ctr"/>
          <a:lstStyle/>
          <a:p>
            <a:pPr indent="0" marL="0">
              <a:buNone/>
            </a:pPr>
            <a:r>
              <a:rPr lang="en-US" sz="3000" b="1" dirty="0">
                <a:solidFill>
                  <a:srgbClr val="3F8CFF"/>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914400" y="4800600"/>
            <a:ext cx="46634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Target Inspection Type</a:t>
            </a:r>
            <a:endParaRPr lang="en-US" sz="1500" dirty="0"/>
          </a:p>
        </p:txBody>
      </p:sp>
      <p:sp>
        <p:nvSpPr>
          <p:cNvPr id="15" name="Text 13"/>
          <p:cNvSpPr/>
          <p:nvPr/>
        </p:nvSpPr>
        <p:spPr>
          <a:xfrm>
            <a:off x="914400" y="5212080"/>
            <a:ext cx="4663440" cy="68580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Build prep guides tailored to the lowest pass-rate inspection types first.</a:t>
            </a:r>
            <a:endParaRPr lang="en-US" sz="1150" dirty="0"/>
          </a:p>
        </p:txBody>
      </p:sp>
      <p:sp>
        <p:nvSpPr>
          <p:cNvPr id="16" name="Shape 14"/>
          <p:cNvSpPr/>
          <p:nvPr/>
        </p:nvSpPr>
        <p:spPr>
          <a:xfrm>
            <a:off x="6217920" y="4023360"/>
            <a:ext cx="5212080" cy="1965960"/>
          </a:xfrm>
          <a:prstGeom prst="roundRect">
            <a:avLst>
              <a:gd name="adj" fmla="val 4651"/>
            </a:avLst>
          </a:prstGeom>
          <a:solidFill>
            <a:srgbClr val="27306B"/>
          </a:solidFill>
          <a:ln/>
        </p:spPr>
      </p:sp>
      <p:sp>
        <p:nvSpPr>
          <p:cNvPr id="17" name="Text 15"/>
          <p:cNvSpPr/>
          <p:nvPr/>
        </p:nvSpPr>
        <p:spPr>
          <a:xfrm>
            <a:off x="6492240" y="4206240"/>
            <a:ext cx="1097280" cy="640080"/>
          </a:xfrm>
          <a:prstGeom prst="rect">
            <a:avLst/>
          </a:prstGeom>
          <a:noFill/>
          <a:ln/>
        </p:spPr>
        <p:txBody>
          <a:bodyPr wrap="square" rtlCol="0" anchor="ctr"/>
          <a:lstStyle/>
          <a:p>
            <a:pPr indent="0" marL="0">
              <a:buNone/>
            </a:pPr>
            <a:r>
              <a:rPr lang="en-US" sz="3000" b="1" dirty="0">
                <a:solidFill>
                  <a:srgbClr val="3F8CFF"/>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6492240" y="4800600"/>
            <a:ext cx="46634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Benchmark by ZIP</a:t>
            </a:r>
            <a:endParaRPr lang="en-US" sz="1500" dirty="0"/>
          </a:p>
        </p:txBody>
      </p:sp>
      <p:sp>
        <p:nvSpPr>
          <p:cNvPr id="19" name="Text 17"/>
          <p:cNvSpPr/>
          <p:nvPr/>
        </p:nvSpPr>
        <p:spPr>
          <a:xfrm>
            <a:off x="6492240" y="5212080"/>
            <a:ext cx="4663440" cy="68580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Use neighborhood-level score &amp; rating maps to show clients how they compare locally.</a:t>
            </a:r>
            <a:endParaRPr lang="en-US" sz="1150" dirty="0"/>
          </a:p>
        </p:txBody>
      </p:sp>
      <p:sp>
        <p:nvSpPr>
          <p:cNvPr id="20"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200" kern="0" dirty="0">
                <a:solidFill>
                  <a:srgbClr val="3F8CFF"/>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Extending This Analysis</a:t>
            </a:r>
            <a:endParaRPr lang="en-US" sz="2800" dirty="0"/>
          </a:p>
        </p:txBody>
      </p:sp>
      <p:sp>
        <p:nvSpPr>
          <p:cNvPr id="4" name="Shape 2"/>
          <p:cNvSpPr/>
          <p:nvPr/>
        </p:nvSpPr>
        <p:spPr>
          <a:xfrm>
            <a:off x="640080" y="1737360"/>
            <a:ext cx="502920" cy="502920"/>
          </a:xfrm>
          <a:prstGeom prst="roundRect">
            <a:avLst>
              <a:gd name="adj" fmla="val 14545"/>
            </a:avLst>
          </a:prstGeom>
          <a:solidFill>
            <a:srgbClr val="3F8CFF"/>
          </a:solidFill>
          <a:ln/>
        </p:spPr>
      </p:sp>
      <p:sp>
        <p:nvSpPr>
          <p:cNvPr id="5" name="Text 3"/>
          <p:cNvSpPr/>
          <p:nvPr/>
        </p:nvSpPr>
        <p:spPr>
          <a:xfrm>
            <a:off x="640080"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71600" y="1691640"/>
            <a:ext cx="9601200" cy="594360"/>
          </a:xfrm>
          <a:prstGeom prst="rect">
            <a:avLst/>
          </a:prstGeom>
          <a:noFill/>
          <a:ln/>
        </p:spPr>
        <p:txBody>
          <a:bodyPr wrap="square" rtlCol="0" anchor="ctr"/>
          <a:lstStyle/>
          <a:p>
            <a:pPr indent="0" marL="0">
              <a:buNone/>
            </a:pPr>
            <a:r>
              <a:rPr lang="en-US" sz="1500" dirty="0">
                <a:solidFill>
                  <a:srgbClr val="222222"/>
                </a:solidFill>
                <a:latin typeface="Calibri" pitchFamily="34" charset="0"/>
                <a:ea typeface="Calibri" pitchFamily="34" charset="-122"/>
                <a:cs typeface="Calibri" pitchFamily="34" charset="-120"/>
              </a:rPr>
              <a:t>Expand to a full calendar year to rule out seasonal effects</a:t>
            </a:r>
            <a:endParaRPr lang="en-US" sz="1500" dirty="0"/>
          </a:p>
        </p:txBody>
      </p:sp>
      <p:sp>
        <p:nvSpPr>
          <p:cNvPr id="7" name="Shape 5"/>
          <p:cNvSpPr/>
          <p:nvPr/>
        </p:nvSpPr>
        <p:spPr>
          <a:xfrm>
            <a:off x="640080" y="2971800"/>
            <a:ext cx="502920" cy="502920"/>
          </a:xfrm>
          <a:prstGeom prst="roundRect">
            <a:avLst>
              <a:gd name="adj" fmla="val 14545"/>
            </a:avLst>
          </a:prstGeom>
          <a:solidFill>
            <a:srgbClr val="3F8CFF"/>
          </a:solidFill>
          <a:ln/>
        </p:spPr>
      </p:sp>
      <p:sp>
        <p:nvSpPr>
          <p:cNvPr id="8" name="Text 6"/>
          <p:cNvSpPr/>
          <p:nvPr/>
        </p:nvSpPr>
        <p:spPr>
          <a:xfrm>
            <a:off x="640080" y="29718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371600" y="2926080"/>
            <a:ext cx="9601200" cy="594360"/>
          </a:xfrm>
          <a:prstGeom prst="rect">
            <a:avLst/>
          </a:prstGeom>
          <a:noFill/>
          <a:ln/>
        </p:spPr>
        <p:txBody>
          <a:bodyPr wrap="square"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Add violation-code-level detail for specific corrective actions</a:t>
            </a:r>
            <a:endParaRPr lang="en-US" sz="1500" dirty="0"/>
          </a:p>
        </p:txBody>
      </p:sp>
      <p:sp>
        <p:nvSpPr>
          <p:cNvPr id="10" name="Shape 8"/>
          <p:cNvSpPr/>
          <p:nvPr/>
        </p:nvSpPr>
        <p:spPr>
          <a:xfrm>
            <a:off x="640080" y="4206240"/>
            <a:ext cx="502920" cy="502920"/>
          </a:xfrm>
          <a:prstGeom prst="roundRect">
            <a:avLst>
              <a:gd name="adj" fmla="val 14545"/>
            </a:avLst>
          </a:prstGeom>
          <a:solidFill>
            <a:srgbClr val="3F8CFF"/>
          </a:solidFill>
          <a:ln/>
        </p:spPr>
      </p:sp>
      <p:sp>
        <p:nvSpPr>
          <p:cNvPr id="11" name="Text 9"/>
          <p:cNvSpPr/>
          <p:nvPr/>
        </p:nvSpPr>
        <p:spPr>
          <a:xfrm>
            <a:off x="640080" y="42062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371600" y="4160520"/>
            <a:ext cx="9601200" cy="594360"/>
          </a:xfrm>
          <a:prstGeom prst="rect">
            <a:avLst/>
          </a:prstGeom>
          <a:noFill/>
          <a:ln/>
        </p:spPr>
        <p:txBody>
          <a:bodyPr wrap="square" rtlCol="0" anchor="ctr"/>
          <a:lstStyle/>
          <a:p>
            <a:pPr indent="0" marL="0">
              <a:buNone/>
            </a:pPr>
            <a:r>
              <a:rPr lang="en-US" sz="1500" dirty="0">
                <a:solidFill>
                  <a:srgbClr val="222222"/>
                </a:solidFill>
                <a:latin typeface="Calibri" pitchFamily="34" charset="0"/>
                <a:ea typeface="Calibri" pitchFamily="34" charset="-122"/>
                <a:cs typeface="Calibri" pitchFamily="34" charset="-120"/>
              </a:rPr>
              <a:t>Build a lightweight dashboard for on-demand client reporting</a:t>
            </a:r>
            <a:endParaRPr lang="en-US" sz="1500" dirty="0"/>
          </a:p>
        </p:txBody>
      </p:sp>
      <p:sp>
        <p:nvSpPr>
          <p:cNvPr id="13" name="Shape 11"/>
          <p:cNvSpPr/>
          <p:nvPr/>
        </p:nvSpPr>
        <p:spPr>
          <a:xfrm>
            <a:off x="640080" y="5669280"/>
            <a:ext cx="10881360" cy="0"/>
          </a:xfrm>
          <a:prstGeom prst="line">
            <a:avLst/>
          </a:prstGeom>
          <a:noFill/>
          <a:ln w="12700">
            <a:solidFill>
              <a:srgbClr val="CADCFC"/>
            </a:solidFill>
            <a:prstDash val="solid"/>
          </a:ln>
        </p:spPr>
      </p:sp>
      <p:sp>
        <p:nvSpPr>
          <p:cNvPr id="14" name="Text 12"/>
          <p:cNvSpPr/>
          <p:nvPr/>
        </p:nvSpPr>
        <p:spPr>
          <a:xfrm>
            <a:off x="640080" y="5943600"/>
            <a:ext cx="10881360" cy="365760"/>
          </a:xfrm>
          <a:prstGeom prst="rect">
            <a:avLst/>
          </a:prstGeom>
          <a:noFill/>
          <a:ln/>
        </p:spPr>
        <p:txBody>
          <a:bodyPr wrap="square" rtlCol="0" anchor="ctr"/>
          <a:lstStyle/>
          <a:p>
            <a:pPr indent="0" marL="0">
              <a:buNone/>
            </a:pPr>
            <a:r>
              <a:rPr lang="en-US" sz="1100" i="1" dirty="0">
                <a:solidFill>
                  <a:srgbClr val="5A6178"/>
                </a:solidFill>
                <a:latin typeface="Calibri" pitchFamily="34" charset="0"/>
                <a:ea typeface="Calibri" pitchFamily="34" charset="-122"/>
                <a:cs typeface="Calibri" pitchFamily="34" charset="-120"/>
              </a:rPr>
              <a:t>Data Analytics Team  •  Based on the C4 Capstone: NYC Restaurant Inspections Analysis</a:t>
            </a:r>
            <a:endParaRPr lang="en-US" sz="1100" dirty="0"/>
          </a:p>
        </p:txBody>
      </p:sp>
      <p:sp>
        <p:nvSpPr>
          <p:cNvPr id="15" name="Text 1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2026-08-18T04:47:17Z</dcterms:created>
  <dcterms:modified xsi:type="dcterms:W3CDTF">2026-08-18T04:47:17Z</dcterms:modified>
</cp:coreProperties>
</file>