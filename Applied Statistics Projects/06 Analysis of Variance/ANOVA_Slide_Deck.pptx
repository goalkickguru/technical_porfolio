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ANALYSIS OF VARIANCE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One-Way, Factorial Designs &amp; Python Implementation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Denis (2021)  •  Applied Statistics with 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|  Data Science Job-Ready Series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ANOVA? THE PROBLEM WITH MULTIPLE t-TESTS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Type I Error Inflation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t-test carries its own α (usually 0.05). Performing many pairwise comparisons multiplies the chance of a false positive across the family of tests.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517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Omnibus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tests a single null: all population means are equal. It keeps the family-wise Type I error near the nominal level while remaining powerful.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651760" cy="73152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Bonferroni Trade-off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α across comparisons (e.g., 0.05/6) controls error but quickly destroys power. ANOVA is far more efficient for k ≥ 3 groups.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LOGIC — BETWEEN vs WITHIN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asks one fundamental question: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 total variation better explained by between-group differences or by within-group noise?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  =  MS_between  /  MS_within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 → group differences are large relative to residual variation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hypothesis:  </a:t>
            </a:r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μ₁ = μ₂ = … = μₖ   (all population means equal)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 </a:t>
            </a:r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population mean differs from the others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F-test is an omnibus test — it does not tell you which means differ. That requires post-hoc tests.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KEY ASSUMPTIONS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09728" cy="1143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Independence of Errors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within and across groups are independent. Guaranteed primarily by proper randomization and experimental design. Residual plots can sometimes flag violations.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109728" cy="1143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Normality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(residuals) are approximately normally distributed. Check with QQ-plots and Shapiro-Wilk (as a guide, not a hard gate). ANOVA is fairly robust, especially with balanced designs and larger 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8412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383280"/>
            <a:ext cx="109728" cy="114300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Homogeneity of Variance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variances are equal across groups (σ₁² = σ₂² = …). Levene’s test is common. ANOVA is robust to moderate violations; large imbalances or extreme heteroscedasticity warrant caution or alternatives.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PYTHON WORKFLOW (statsmodels)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pattern for one-way ANOVA: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0F1B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statsmodels.formula.api import ols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statsmodels.api as sm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ols('ac ~ C(teach)', data=df).fit()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= sm.stats.anova_lm(model, typ=2)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print(table)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C(teach)  forces the variable to be treated as categorical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typ=2  requests Type II sums of squares (common default for balanced designs)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F-ratio is MS_between / MS_residual; large F + small p → reject H₀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 SIZE &amp; POST-HOC TESTS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 Size — η²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η² = SS_treatment / SS_total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total variance attributable to the factor. In the teacher example ≈ 0.82 — a very large effect. Always report alongside the p-value; p alone is incomplete.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η² is slightly biased upward; ω² is less biased but less commonly reported.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40233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Post-Hoc — Tukey HSD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family-wise error while retaining good power. Recommended default for balanced designs.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Alternatives: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Scheffé — more conservative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 — simple but power-hungry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 contrasts — preferred when hypotheses exist before looking at data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FACTORIAL ANOVA &amp; INTERACTIONS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interaction exists when the effect of one factor depends on the level of another.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Interactions Matter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mostly about interactions, not main effects.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treatment may work for one subgroup and not another.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Main-effect statements become incomplete or misleading when an interaction is present.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interpret the interaction term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Sample vs Population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Non-parallel lines almost always appear in a sample interaction plot. That does not equal a population interaction. The significance test on the interaction term answers the population question. Parallel lines = no interaction in the sample (rare).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 FOR THE PRACTITIONER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822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is variance partitioning. The model you specify determines the effects you will (or will not) see.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effect size (η²) with every F-test. A p-value without magnitude is incomplete science.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377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almost always approximate. Stay within reasonable bounds; do not treat tests as binary gates.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154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interactions before main effects. The interaction tells the fuller story of the data.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931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first, statistics second. Good randomization and blocking matter more than sophisticated models.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READY FOR YOUR OWN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notebook template implements the full workflow: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Assumptions → One-way → Effect size → Post-hoc → Factorial → Residuals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Swap the data. Update the formulas. Re-interpret in context.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Denis, D. (2021). Applied Univariate, Bivariate, and Multivariate Statistics Using Python.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Variance (ANOVA) with Python</dc:title>
  <dc:subject>Based on Denis (2021) Chapter 6</dc:subject>
  <dc:creator>Data Science Portfolio</dc:creator>
  <cp:lastModifiedBy>Data Science Portfolio</cp:lastModifiedBy>
  <cp:revision>1</cp:revision>
  <dcterms:created xsi:type="dcterms:W3CDTF">2026-08-18T07:17:50Z</dcterms:created>
  <dcterms:modified xsi:type="dcterms:W3CDTF">2026-08-18T07:17:50Z</dcterms:modified>
</cp:coreProperties>
</file>