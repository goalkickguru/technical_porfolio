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33"/>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43"/>
          </a:solidFill>
          <a:ln/>
        </p:spPr>
      </p:sp>
      <p:sp>
        <p:nvSpPr>
          <p:cNvPr id="3" name="Shape 1"/>
          <p:cNvSpPr/>
          <p:nvPr/>
        </p:nvSpPr>
        <p:spPr>
          <a:xfrm>
            <a:off x="0" y="4206240"/>
            <a:ext cx="9144000" cy="937260"/>
          </a:xfrm>
          <a:prstGeom prst="rect">
            <a:avLst/>
          </a:prstGeom>
          <a:solidFill>
            <a:srgbClr val="1B2A4A"/>
          </a:solidFill>
          <a:ln/>
        </p:spPr>
      </p:sp>
      <p:sp>
        <p:nvSpPr>
          <p:cNvPr id="4" name="Text 2"/>
          <p:cNvSpPr/>
          <p:nvPr/>
        </p:nvSpPr>
        <p:spPr>
          <a:xfrm>
            <a:off x="731520" y="914400"/>
            <a:ext cx="7680960" cy="1828800"/>
          </a:xfrm>
          <a:prstGeom prst="rect">
            <a:avLst/>
          </a:prstGeom>
          <a:noFill/>
          <a:ln/>
        </p:spPr>
        <p:txBody>
          <a:bodyPr wrap="square" rtlCol="0" anchor="ctr"/>
          <a:lstStyle/>
          <a:p>
            <a:pPr indent="0" marL="0">
              <a:lnSpc>
                <a:spcPct val="110000"/>
              </a:lnSpc>
              <a:buNone/>
            </a:pPr>
            <a:r>
              <a:rPr lang="en-US" sz="3600" b="1" dirty="0">
                <a:solidFill>
                  <a:srgbClr val="FFFFFF"/>
                </a:solidFill>
                <a:latin typeface="Century Gothic" pitchFamily="34" charset="0"/>
                <a:ea typeface="Century Gothic" pitchFamily="34" charset="-122"/>
                <a:cs typeface="Century Gothic" pitchFamily="34" charset="-120"/>
              </a:rPr>
              <a:t>SIMPLE &amp; MULTIPLE</a:t>
            </a:r>
            <a:endParaRPr lang="en-US" sz="3600" dirty="0"/>
          </a:p>
          <a:p>
            <a:pPr indent="0" marL="0">
              <a:lnSpc>
                <a:spcPct val="110000"/>
              </a:lnSpc>
              <a:buNone/>
            </a:pPr>
            <a:r>
              <a:rPr lang="en-US" sz="3600" b="1" dirty="0">
                <a:solidFill>
                  <a:srgbClr val="FFFFFF"/>
                </a:solidFill>
                <a:latin typeface="Century Gothic" pitchFamily="34" charset="0"/>
                <a:ea typeface="Century Gothic" pitchFamily="34" charset="-122"/>
                <a:cs typeface="Century Gothic" pitchFamily="34" charset="-120"/>
              </a:rPr>
              <a:t>LINEAR REGRESSION</a:t>
            </a:r>
            <a:endParaRPr lang="en-US" sz="3600" dirty="0"/>
          </a:p>
        </p:txBody>
      </p:sp>
      <p:sp>
        <p:nvSpPr>
          <p:cNvPr id="5" name="Text 3"/>
          <p:cNvSpPr/>
          <p:nvPr/>
        </p:nvSpPr>
        <p:spPr>
          <a:xfrm>
            <a:off x="731520" y="2926080"/>
            <a:ext cx="7772400" cy="411480"/>
          </a:xfrm>
          <a:prstGeom prst="rect">
            <a:avLst/>
          </a:prstGeom>
          <a:noFill/>
          <a:ln/>
        </p:spPr>
        <p:txBody>
          <a:bodyPr wrap="square" rtlCol="0" anchor="ctr"/>
          <a:lstStyle/>
          <a:p>
            <a:pPr indent="0" marL="0">
              <a:buNone/>
            </a:pPr>
            <a:r>
              <a:rPr lang="en-US" sz="1600" i="1" dirty="0">
                <a:solidFill>
                  <a:srgbClr val="D4A843"/>
                </a:solidFill>
                <a:latin typeface="Calibri" pitchFamily="34" charset="0"/>
                <a:ea typeface="Calibri" pitchFamily="34" charset="-122"/>
                <a:cs typeface="Calibri" pitchFamily="34" charset="-120"/>
              </a:rPr>
              <a:t>Foundations, Python Implementation &amp; Interpretation Principles</a:t>
            </a:r>
            <a:endParaRPr lang="en-US" sz="1600" dirty="0"/>
          </a:p>
        </p:txBody>
      </p:sp>
      <p:sp>
        <p:nvSpPr>
          <p:cNvPr id="6" name="Text 4"/>
          <p:cNvSpPr/>
          <p:nvPr/>
        </p:nvSpPr>
        <p:spPr>
          <a:xfrm>
            <a:off x="731520" y="4434840"/>
            <a:ext cx="7315200" cy="365760"/>
          </a:xfrm>
          <a:prstGeom prst="rect">
            <a:avLst/>
          </a:prstGeom>
          <a:noFill/>
          <a:ln/>
        </p:spPr>
        <p:txBody>
          <a:bodyPr wrap="square" rtlCol="0" anchor="ctr"/>
          <a:lstStyle/>
          <a:p>
            <a:pPr indent="0" marL="0">
              <a:buNone/>
            </a:pPr>
            <a:r>
              <a:rPr lang="en-US" sz="1300" dirty="0">
                <a:solidFill>
                  <a:srgbClr val="E8E4DD"/>
                </a:solidFill>
                <a:latin typeface="Calibri" pitchFamily="34" charset="0"/>
                <a:ea typeface="Calibri" pitchFamily="34" charset="-122"/>
                <a:cs typeface="Calibri" pitchFamily="34" charset="-120"/>
              </a:rPr>
              <a:t>Project Kick-off  |  Applied Statistics Series  |  August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43"/>
          </a:solidFill>
          <a:ln/>
        </p:spPr>
      </p:sp>
      <p:sp>
        <p:nvSpPr>
          <p:cNvPr id="3" name="Text 1"/>
          <p:cNvSpPr/>
          <p:nvPr/>
        </p:nvSpPr>
        <p:spPr>
          <a:xfrm>
            <a:off x="457200" y="228600"/>
            <a:ext cx="8229600" cy="411480"/>
          </a:xfrm>
          <a:prstGeom prst="rect">
            <a:avLst/>
          </a:prstGeom>
          <a:noFill/>
          <a:ln/>
        </p:spPr>
        <p:txBody>
          <a:bodyPr wrap="square" rtlCol="0" anchor="ctr"/>
          <a:lstStyle/>
          <a:p>
            <a:pPr indent="0" marL="0">
              <a:buNone/>
            </a:pPr>
            <a:r>
              <a:rPr lang="en-US" sz="2200" b="1" dirty="0">
                <a:solidFill>
                  <a:srgbClr val="1B2A4A"/>
                </a:solidFill>
                <a:latin typeface="Century Gothic" pitchFamily="34" charset="0"/>
                <a:ea typeface="Century Gothic" pitchFamily="34" charset="-122"/>
                <a:cs typeface="Century Gothic" pitchFamily="34" charset="-120"/>
              </a:rPr>
              <a:t>WHY REGRESSION MATTERS</a:t>
            </a:r>
            <a:endParaRPr lang="en-US" sz="2200" dirty="0"/>
          </a:p>
        </p:txBody>
      </p:sp>
      <p:sp>
        <p:nvSpPr>
          <p:cNvPr id="4" name="Text 2"/>
          <p:cNvSpPr/>
          <p:nvPr/>
        </p:nvSpPr>
        <p:spPr>
          <a:xfrm>
            <a:off x="457200" y="731520"/>
            <a:ext cx="8229600" cy="365760"/>
          </a:xfrm>
          <a:prstGeom prst="rect">
            <a:avLst/>
          </a:prstGeom>
          <a:noFill/>
          <a:ln/>
        </p:spPr>
        <p:txBody>
          <a:bodyPr wrap="square" rtlCol="0" anchor="ctr"/>
          <a:lstStyle/>
          <a:p>
            <a:pPr indent="0" marL="0">
              <a:buNone/>
            </a:pPr>
            <a:r>
              <a:rPr lang="en-US" sz="1500" i="1" dirty="0">
                <a:solidFill>
                  <a:srgbClr val="2C2C2C"/>
                </a:solidFill>
                <a:latin typeface="Calibri" pitchFamily="34" charset="0"/>
                <a:ea typeface="Calibri" pitchFamily="34" charset="-122"/>
                <a:cs typeface="Calibri" pitchFamily="34" charset="-120"/>
              </a:rPr>
              <a:t>Many statistical techniques are extensions of the fundamental regression model.</a:t>
            </a:r>
            <a:endParaRPr lang="en-US" sz="1500" dirty="0"/>
          </a:p>
        </p:txBody>
      </p:sp>
      <p:sp>
        <p:nvSpPr>
          <p:cNvPr id="5" name="Shape 3"/>
          <p:cNvSpPr/>
          <p:nvPr/>
        </p:nvSpPr>
        <p:spPr>
          <a:xfrm>
            <a:off x="457200" y="1280160"/>
            <a:ext cx="8229600" cy="777240"/>
          </a:xfrm>
          <a:prstGeom prst="roundRect">
            <a:avLst>
              <a:gd name="adj" fmla="val 7059"/>
            </a:avLst>
          </a:prstGeom>
          <a:solidFill>
            <a:srgbClr val="FFFFFF"/>
          </a:solidFill>
          <a:ln/>
          <a:effectLst>
            <a:outerShdw sx="100000" sy="100000" kx="0" ky="0" algn="bl" rotWithShape="0" blurRad="50800" dist="50800" dir="16200000">
              <a:srgbClr val="000000">
                <a:alpha val="8000"/>
              </a:srgbClr>
            </a:outerShdw>
          </a:effectLst>
        </p:spPr>
      </p:sp>
      <p:sp>
        <p:nvSpPr>
          <p:cNvPr id="6" name="Text 4"/>
          <p:cNvSpPr/>
          <p:nvPr/>
        </p:nvSpPr>
        <p:spPr>
          <a:xfrm>
            <a:off x="640080" y="1371600"/>
            <a:ext cx="7863840" cy="274320"/>
          </a:xfrm>
          <a:prstGeom prst="rect">
            <a:avLst/>
          </a:prstGeom>
          <a:noFill/>
          <a:ln/>
        </p:spPr>
        <p:txBody>
          <a:bodyPr wrap="square" rtlCol="0" anchor="ctr"/>
          <a:lstStyle/>
          <a:p>
            <a:pPr indent="0" marL="0">
              <a:buNone/>
            </a:pPr>
            <a:r>
              <a:rPr lang="en-US" sz="1500" b="1" dirty="0">
                <a:solidFill>
                  <a:srgbClr val="1B2A4A"/>
                </a:solidFill>
                <a:latin typeface="Century Gothic" pitchFamily="34" charset="0"/>
                <a:ea typeface="Century Gothic" pitchFamily="34" charset="-122"/>
                <a:cs typeface="Century Gothic" pitchFamily="34" charset="-120"/>
              </a:rPr>
              <a:t>Central Framework</a:t>
            </a:r>
            <a:endParaRPr lang="en-US" sz="1500" dirty="0"/>
          </a:p>
        </p:txBody>
      </p:sp>
      <p:sp>
        <p:nvSpPr>
          <p:cNvPr id="7" name="Text 5"/>
          <p:cNvSpPr/>
          <p:nvPr/>
        </p:nvSpPr>
        <p:spPr>
          <a:xfrm>
            <a:off x="640080" y="1664208"/>
            <a:ext cx="7863840" cy="320040"/>
          </a:xfrm>
          <a:prstGeom prst="rect">
            <a:avLst/>
          </a:prstGeom>
          <a:noFill/>
          <a:ln/>
        </p:spPr>
        <p:txBody>
          <a:bodyPr wrap="square" rtlCol="0" anchor="ctr"/>
          <a:lstStyle/>
          <a:p>
            <a:pPr indent="0" marL="0">
              <a:buNone/>
            </a:pPr>
            <a:r>
              <a:rPr lang="en-US" sz="1300" dirty="0">
                <a:solidFill>
                  <a:srgbClr val="2C2C2C"/>
                </a:solidFill>
                <a:latin typeface="Calibri" pitchFamily="34" charset="0"/>
                <a:ea typeface="Calibri" pitchFamily="34" charset="-122"/>
                <a:cs typeface="Calibri" pitchFamily="34" charset="-120"/>
              </a:rPr>
              <a:t>ANOVA, many GLMs, and a large class of ML methods reduce to or build upon least-squares ideas.</a:t>
            </a:r>
            <a:endParaRPr lang="en-US" sz="1300" dirty="0"/>
          </a:p>
        </p:txBody>
      </p:sp>
      <p:sp>
        <p:nvSpPr>
          <p:cNvPr id="8" name="Shape 6"/>
          <p:cNvSpPr/>
          <p:nvPr/>
        </p:nvSpPr>
        <p:spPr>
          <a:xfrm>
            <a:off x="457200" y="2148840"/>
            <a:ext cx="8229600" cy="777240"/>
          </a:xfrm>
          <a:prstGeom prst="roundRect">
            <a:avLst>
              <a:gd name="adj" fmla="val 7059"/>
            </a:avLst>
          </a:prstGeom>
          <a:solidFill>
            <a:srgbClr val="FFFFFF"/>
          </a:solidFill>
          <a:ln/>
          <a:effectLst>
            <a:outerShdw sx="100000" sy="100000" kx="0" ky="0" algn="bl" rotWithShape="0" blurRad="50800" dist="50800" dir="16200000">
              <a:srgbClr val="000000">
                <a:alpha val="8000"/>
              </a:srgbClr>
            </a:outerShdw>
          </a:effectLst>
        </p:spPr>
      </p:sp>
      <p:sp>
        <p:nvSpPr>
          <p:cNvPr id="9" name="Text 7"/>
          <p:cNvSpPr/>
          <p:nvPr/>
        </p:nvSpPr>
        <p:spPr>
          <a:xfrm>
            <a:off x="640080" y="2240280"/>
            <a:ext cx="7863840" cy="274320"/>
          </a:xfrm>
          <a:prstGeom prst="rect">
            <a:avLst/>
          </a:prstGeom>
          <a:noFill/>
          <a:ln/>
        </p:spPr>
        <p:txBody>
          <a:bodyPr wrap="square" rtlCol="0" anchor="ctr"/>
          <a:lstStyle/>
          <a:p>
            <a:pPr indent="0" marL="0">
              <a:buNone/>
            </a:pPr>
            <a:r>
              <a:rPr lang="en-US" sz="1500" b="1" dirty="0">
                <a:solidFill>
                  <a:srgbClr val="1B2A4A"/>
                </a:solidFill>
                <a:latin typeface="Century Gothic" pitchFamily="34" charset="0"/>
                <a:ea typeface="Century Gothic" pitchFamily="34" charset="-122"/>
                <a:cs typeface="Century Gothic" pitchFamily="34" charset="-120"/>
              </a:rPr>
              <a:t>Prediction Defined</a:t>
            </a:r>
            <a:endParaRPr lang="en-US" sz="1500" dirty="0"/>
          </a:p>
        </p:txBody>
      </p:sp>
      <p:sp>
        <p:nvSpPr>
          <p:cNvPr id="10" name="Text 8"/>
          <p:cNvSpPr/>
          <p:nvPr/>
        </p:nvSpPr>
        <p:spPr>
          <a:xfrm>
            <a:off x="640080" y="2532888"/>
            <a:ext cx="7863840" cy="320040"/>
          </a:xfrm>
          <a:prstGeom prst="rect">
            <a:avLst/>
          </a:prstGeom>
          <a:noFill/>
          <a:ln/>
        </p:spPr>
        <p:txBody>
          <a:bodyPr wrap="square" rtlCol="0" anchor="ctr"/>
          <a:lstStyle/>
          <a:p>
            <a:pPr indent="0" marL="0">
              <a:buNone/>
            </a:pPr>
            <a:r>
              <a:rPr lang="en-US" sz="1300" dirty="0">
                <a:solidFill>
                  <a:srgbClr val="2C2C2C"/>
                </a:solidFill>
                <a:latin typeface="Calibri" pitchFamily="34" charset="0"/>
                <a:ea typeface="Calibri" pitchFamily="34" charset="-122"/>
                <a:cs typeface="Calibri" pitchFamily="34" charset="-120"/>
              </a:rPr>
              <a:t>In statistics, “predict” only means as much as the mathematical definition used by the estimator.</a:t>
            </a:r>
            <a:endParaRPr lang="en-US" sz="1300" dirty="0"/>
          </a:p>
        </p:txBody>
      </p:sp>
      <p:sp>
        <p:nvSpPr>
          <p:cNvPr id="11" name="Shape 9"/>
          <p:cNvSpPr/>
          <p:nvPr/>
        </p:nvSpPr>
        <p:spPr>
          <a:xfrm>
            <a:off x="457200" y="3017520"/>
            <a:ext cx="8229600" cy="777240"/>
          </a:xfrm>
          <a:prstGeom prst="roundRect">
            <a:avLst>
              <a:gd name="adj" fmla="val 7059"/>
            </a:avLst>
          </a:prstGeom>
          <a:solidFill>
            <a:srgbClr val="FFFFFF"/>
          </a:solidFill>
          <a:ln/>
          <a:effectLst>
            <a:outerShdw sx="100000" sy="100000" kx="0" ky="0" algn="bl" rotWithShape="0" blurRad="50800" dist="50800" dir="16200000">
              <a:srgbClr val="000000">
                <a:alpha val="8000"/>
              </a:srgbClr>
            </a:outerShdw>
          </a:effectLst>
        </p:spPr>
      </p:sp>
      <p:sp>
        <p:nvSpPr>
          <p:cNvPr id="12" name="Text 10"/>
          <p:cNvSpPr/>
          <p:nvPr/>
        </p:nvSpPr>
        <p:spPr>
          <a:xfrm>
            <a:off x="640080" y="3108960"/>
            <a:ext cx="7863840" cy="274320"/>
          </a:xfrm>
          <a:prstGeom prst="rect">
            <a:avLst/>
          </a:prstGeom>
          <a:noFill/>
          <a:ln/>
        </p:spPr>
        <p:txBody>
          <a:bodyPr wrap="square" rtlCol="0" anchor="ctr"/>
          <a:lstStyle/>
          <a:p>
            <a:pPr indent="0" marL="0">
              <a:buNone/>
            </a:pPr>
            <a:r>
              <a:rPr lang="en-US" sz="1500" b="1" dirty="0">
                <a:solidFill>
                  <a:srgbClr val="1B2A4A"/>
                </a:solidFill>
                <a:latin typeface="Century Gothic" pitchFamily="34" charset="0"/>
                <a:ea typeface="Century Gothic" pitchFamily="34" charset="-122"/>
                <a:cs typeface="Century Gothic" pitchFamily="34" charset="-120"/>
              </a:rPr>
              <a:t>Assumptions Drive Claims</a:t>
            </a:r>
            <a:endParaRPr lang="en-US" sz="1500" dirty="0"/>
          </a:p>
        </p:txBody>
      </p:sp>
      <p:sp>
        <p:nvSpPr>
          <p:cNvPr id="13" name="Text 11"/>
          <p:cNvSpPr/>
          <p:nvPr/>
        </p:nvSpPr>
        <p:spPr>
          <a:xfrm>
            <a:off x="640080" y="3401568"/>
            <a:ext cx="7863840" cy="320040"/>
          </a:xfrm>
          <a:prstGeom prst="rect">
            <a:avLst/>
          </a:prstGeom>
          <a:noFill/>
          <a:ln/>
        </p:spPr>
        <p:txBody>
          <a:bodyPr wrap="square" rtlCol="0" anchor="ctr"/>
          <a:lstStyle/>
          <a:p>
            <a:pPr indent="0" marL="0">
              <a:buNone/>
            </a:pPr>
            <a:r>
              <a:rPr lang="en-US" sz="1300" dirty="0">
                <a:solidFill>
                  <a:srgbClr val="2C2C2C"/>
                </a:solidFill>
                <a:latin typeface="Calibri" pitchFamily="34" charset="0"/>
                <a:ea typeface="Calibri" pitchFamily="34" charset="-122"/>
                <a:cs typeface="Calibri" pitchFamily="34" charset="-120"/>
              </a:rPr>
              <a:t>Models are only as good as the assumptions and inputs that go into them.</a:t>
            </a:r>
            <a:endParaRPr lang="en-US" sz="1300" dirty="0"/>
          </a:p>
        </p:txBody>
      </p:sp>
      <p:sp>
        <p:nvSpPr>
          <p:cNvPr id="14" name="Shape 12"/>
          <p:cNvSpPr/>
          <p:nvPr/>
        </p:nvSpPr>
        <p:spPr>
          <a:xfrm>
            <a:off x="457200" y="3886200"/>
            <a:ext cx="8229600" cy="777240"/>
          </a:xfrm>
          <a:prstGeom prst="roundRect">
            <a:avLst>
              <a:gd name="adj" fmla="val 7059"/>
            </a:avLst>
          </a:prstGeom>
          <a:solidFill>
            <a:srgbClr val="FFFFFF"/>
          </a:solidFill>
          <a:ln/>
          <a:effectLst>
            <a:outerShdw sx="100000" sy="100000" kx="0" ky="0" algn="bl" rotWithShape="0" blurRad="50800" dist="50800" dir="16200000">
              <a:srgbClr val="000000">
                <a:alpha val="8000"/>
              </a:srgbClr>
            </a:outerShdw>
          </a:effectLst>
        </p:spPr>
      </p:sp>
      <p:sp>
        <p:nvSpPr>
          <p:cNvPr id="15" name="Text 13"/>
          <p:cNvSpPr/>
          <p:nvPr/>
        </p:nvSpPr>
        <p:spPr>
          <a:xfrm>
            <a:off x="640080" y="3977640"/>
            <a:ext cx="7863840" cy="274320"/>
          </a:xfrm>
          <a:prstGeom prst="rect">
            <a:avLst/>
          </a:prstGeom>
          <a:noFill/>
          <a:ln/>
        </p:spPr>
        <p:txBody>
          <a:bodyPr wrap="square" rtlCol="0" anchor="ctr"/>
          <a:lstStyle/>
          <a:p>
            <a:pPr indent="0" marL="0">
              <a:buNone/>
            </a:pPr>
            <a:r>
              <a:rPr lang="en-US" sz="1500" b="1" dirty="0">
                <a:solidFill>
                  <a:srgbClr val="1B2A4A"/>
                </a:solidFill>
                <a:latin typeface="Century Gothic" pitchFamily="34" charset="0"/>
                <a:ea typeface="Century Gothic" pitchFamily="34" charset="-122"/>
                <a:cs typeface="Century Gothic" pitchFamily="34" charset="-120"/>
              </a:rPr>
              <a:t>Context Dependency</a:t>
            </a:r>
            <a:endParaRPr lang="en-US" sz="1500" dirty="0"/>
          </a:p>
        </p:txBody>
      </p:sp>
      <p:sp>
        <p:nvSpPr>
          <p:cNvPr id="16" name="Text 14"/>
          <p:cNvSpPr/>
          <p:nvPr/>
        </p:nvSpPr>
        <p:spPr>
          <a:xfrm>
            <a:off x="640080" y="4270248"/>
            <a:ext cx="7863840" cy="320040"/>
          </a:xfrm>
          <a:prstGeom prst="rect">
            <a:avLst/>
          </a:prstGeom>
          <a:noFill/>
          <a:ln/>
        </p:spPr>
        <p:txBody>
          <a:bodyPr wrap="square" rtlCol="0" anchor="ctr"/>
          <a:lstStyle/>
          <a:p>
            <a:pPr indent="0" marL="0">
              <a:buNone/>
            </a:pPr>
            <a:r>
              <a:rPr lang="en-US" sz="1300" dirty="0">
                <a:solidFill>
                  <a:srgbClr val="2C2C2C"/>
                </a:solidFill>
                <a:latin typeface="Calibri" pitchFamily="34" charset="0"/>
                <a:ea typeface="Calibri" pitchFamily="34" charset="-122"/>
                <a:cs typeface="Calibri" pitchFamily="34" charset="-120"/>
              </a:rPr>
              <a:t>Every coefficient lives inside a specific model. Changing the model can change the coefficient.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43"/>
          </a:solidFill>
          <a:ln/>
        </p:spPr>
      </p:sp>
      <p:sp>
        <p:nvSpPr>
          <p:cNvPr id="3" name="Text 1"/>
          <p:cNvSpPr/>
          <p:nvPr/>
        </p:nvSpPr>
        <p:spPr>
          <a:xfrm>
            <a:off x="457200" y="228600"/>
            <a:ext cx="8229600" cy="411480"/>
          </a:xfrm>
          <a:prstGeom prst="rect">
            <a:avLst/>
          </a:prstGeom>
          <a:noFill/>
          <a:ln/>
        </p:spPr>
        <p:txBody>
          <a:bodyPr wrap="square" rtlCol="0" anchor="ctr"/>
          <a:lstStyle/>
          <a:p>
            <a:pPr indent="0" marL="0">
              <a:buNone/>
            </a:pPr>
            <a:r>
              <a:rPr lang="en-US" sz="2200" b="1" dirty="0">
                <a:solidFill>
                  <a:srgbClr val="1B2A4A"/>
                </a:solidFill>
                <a:latin typeface="Century Gothic" pitchFamily="34" charset="0"/>
                <a:ea typeface="Century Gothic" pitchFamily="34" charset="-122"/>
                <a:cs typeface="Century Gothic" pitchFamily="34" charset="-120"/>
              </a:rPr>
              <a:t>THE LEAST-SQUARES PRINCIPLE</a:t>
            </a:r>
            <a:endParaRPr lang="en-US" sz="2200" dirty="0"/>
          </a:p>
        </p:txBody>
      </p:sp>
      <p:sp>
        <p:nvSpPr>
          <p:cNvPr id="4" name="Text 2"/>
          <p:cNvSpPr/>
          <p:nvPr/>
        </p:nvSpPr>
        <p:spPr>
          <a:xfrm>
            <a:off x="457200" y="777240"/>
            <a:ext cx="8229600" cy="365760"/>
          </a:xfrm>
          <a:prstGeom prst="rect">
            <a:avLst/>
          </a:prstGeom>
          <a:noFill/>
          <a:ln/>
        </p:spPr>
        <p:txBody>
          <a:bodyPr wrap="square" rtlCol="0" anchor="ctr"/>
          <a:lstStyle/>
          <a:p>
            <a:pPr indent="0" marL="0">
              <a:buNone/>
            </a:pPr>
            <a:r>
              <a:rPr lang="en-US" sz="1800" b="1" dirty="0">
                <a:solidFill>
                  <a:srgbClr val="0E7C86"/>
                </a:solidFill>
                <a:latin typeface="Calibri" pitchFamily="34" charset="0"/>
                <a:ea typeface="Calibri" pitchFamily="34" charset="-122"/>
                <a:cs typeface="Calibri" pitchFamily="34" charset="-120"/>
              </a:rPr>
              <a:t>Minimize the sum of squared residuals:  Σ (yᵢ − ŷᵢ)²</a:t>
            </a:r>
            <a:endParaRPr lang="en-US" sz="1800" dirty="0"/>
          </a:p>
        </p:txBody>
      </p:sp>
      <p:sp>
        <p:nvSpPr>
          <p:cNvPr id="5" name="Shape 3"/>
          <p:cNvSpPr/>
          <p:nvPr/>
        </p:nvSpPr>
        <p:spPr>
          <a:xfrm>
            <a:off x="457200" y="1371600"/>
            <a:ext cx="3931920" cy="3200400"/>
          </a:xfrm>
          <a:prstGeom prst="roundRect">
            <a:avLst>
              <a:gd name="adj" fmla="val 2286"/>
            </a:avLst>
          </a:prstGeom>
          <a:solidFill>
            <a:srgbClr val="FFFFFF"/>
          </a:solidFill>
          <a:ln/>
          <a:effectLst>
            <a:outerShdw sx="100000" sy="100000" kx="0" ky="0" algn="bl" rotWithShape="0" blurRad="50800" dist="50800" dir="16200000">
              <a:srgbClr val="000000">
                <a:alpha val="8000"/>
              </a:srgbClr>
            </a:outerShdw>
          </a:effectLst>
        </p:spPr>
      </p:sp>
      <p:sp>
        <p:nvSpPr>
          <p:cNvPr id="6" name="Text 4"/>
          <p:cNvSpPr/>
          <p:nvPr/>
        </p:nvSpPr>
        <p:spPr>
          <a:xfrm>
            <a:off x="640080" y="1554480"/>
            <a:ext cx="3566160" cy="320040"/>
          </a:xfrm>
          <a:prstGeom prst="rect">
            <a:avLst/>
          </a:prstGeom>
          <a:noFill/>
          <a:ln/>
        </p:spPr>
        <p:txBody>
          <a:bodyPr wrap="square" rtlCol="0" anchor="ctr"/>
          <a:lstStyle/>
          <a:p>
            <a:pPr indent="0" marL="0">
              <a:buNone/>
            </a:pPr>
            <a:r>
              <a:rPr lang="en-US" sz="1600" b="1" dirty="0">
                <a:solidFill>
                  <a:srgbClr val="1B2A4A"/>
                </a:solidFill>
                <a:latin typeface="Century Gothic" pitchFamily="34" charset="0"/>
                <a:ea typeface="Century Gothic" pitchFamily="34" charset="-122"/>
                <a:cs typeface="Century Gothic" pitchFamily="34" charset="-120"/>
              </a:rPr>
              <a:t>Population Model</a:t>
            </a:r>
            <a:endParaRPr lang="en-US" sz="1600" dirty="0"/>
          </a:p>
        </p:txBody>
      </p:sp>
      <p:sp>
        <p:nvSpPr>
          <p:cNvPr id="7" name="Text 5"/>
          <p:cNvSpPr/>
          <p:nvPr/>
        </p:nvSpPr>
        <p:spPr>
          <a:xfrm>
            <a:off x="640080" y="2011680"/>
            <a:ext cx="3566160" cy="365760"/>
          </a:xfrm>
          <a:prstGeom prst="rect">
            <a:avLst/>
          </a:prstGeom>
          <a:noFill/>
          <a:ln/>
        </p:spPr>
        <p:txBody>
          <a:bodyPr wrap="square" rtlCol="0" anchor="ctr"/>
          <a:lstStyle/>
          <a:p>
            <a:pPr indent="0" marL="0">
              <a:buNone/>
            </a:pPr>
            <a:r>
              <a:rPr lang="en-US" sz="2000" b="1" dirty="0">
                <a:solidFill>
                  <a:srgbClr val="0E7C86"/>
                </a:solidFill>
                <a:latin typeface="Century Gothic" pitchFamily="34" charset="0"/>
                <a:ea typeface="Century Gothic" pitchFamily="34" charset="-122"/>
                <a:cs typeface="Century Gothic" pitchFamily="34" charset="-120"/>
              </a:rPr>
              <a:t>yᵢ = α + βxᵢ + εᵢ</a:t>
            </a:r>
            <a:endParaRPr lang="en-US" sz="2000" dirty="0"/>
          </a:p>
        </p:txBody>
      </p:sp>
      <p:sp>
        <p:nvSpPr>
          <p:cNvPr id="8" name="Text 6"/>
          <p:cNvSpPr/>
          <p:nvPr/>
        </p:nvSpPr>
        <p:spPr>
          <a:xfrm>
            <a:off x="640080" y="2560320"/>
            <a:ext cx="3566160" cy="1645920"/>
          </a:xfrm>
          <a:prstGeom prst="rect">
            <a:avLst/>
          </a:prstGeom>
          <a:noFill/>
          <a:ln/>
        </p:spPr>
        <p:txBody>
          <a:bodyPr wrap="square" rtlCol="0" anchor="ctr"/>
          <a:lstStyle/>
          <a:p>
            <a:pPr indent="0" marL="0">
              <a:lnSpc>
                <a:spcPct val="140000"/>
              </a:lnSpc>
              <a:buNone/>
            </a:pPr>
            <a:r>
              <a:rPr lang="en-US" sz="1400" dirty="0">
                <a:solidFill>
                  <a:srgbClr val="2C2C2C"/>
                </a:solidFill>
                <a:latin typeface="Calibri" pitchFamily="34" charset="0"/>
                <a:ea typeface="Calibri" pitchFamily="34" charset="-122"/>
                <a:cs typeface="Calibri" pitchFamily="34" charset="-120"/>
              </a:rPr>
              <a:t>α  intercept (constant)</a:t>
            </a:r>
            <a:endParaRPr lang="en-US" sz="1400" dirty="0"/>
          </a:p>
          <a:p>
            <a:pPr indent="0" marL="0">
              <a:lnSpc>
                <a:spcPct val="140000"/>
              </a:lnSpc>
              <a:buNone/>
            </a:pPr>
            <a:r>
              <a:rPr lang="en-US" sz="1400" dirty="0">
                <a:solidFill>
                  <a:srgbClr val="2C2C2C"/>
                </a:solidFill>
                <a:latin typeface="Calibri" pitchFamily="34" charset="0"/>
                <a:ea typeface="Calibri" pitchFamily="34" charset="-122"/>
                <a:cs typeface="Calibri" pitchFamily="34" charset="-120"/>
              </a:rPr>
              <a:t>β  slope (population)</a:t>
            </a:r>
            <a:endParaRPr lang="en-US" sz="1400" dirty="0"/>
          </a:p>
          <a:p>
            <a:pPr indent="0" marL="0">
              <a:lnSpc>
                <a:spcPct val="140000"/>
              </a:lnSpc>
              <a:buNone/>
            </a:pPr>
            <a:r>
              <a:rPr lang="en-US" sz="1400" dirty="0">
                <a:solidFill>
                  <a:srgbClr val="2C2C2C"/>
                </a:solidFill>
                <a:latin typeface="Calibri" pitchFamily="34" charset="0"/>
                <a:ea typeface="Calibri" pitchFamily="34" charset="-122"/>
                <a:cs typeface="Calibri" pitchFamily="34" charset="-120"/>
              </a:rPr>
              <a:t>εᵢ  random error term</a:t>
            </a:r>
            <a:endParaRPr lang="en-US" sz="1400" dirty="0"/>
          </a:p>
          <a:p>
            <a:pPr indent="0" marL="0">
              <a:lnSpc>
                <a:spcPct val="140000"/>
              </a:lnSpc>
              <a:buNone/>
            </a:pPr>
            <a:r>
              <a:rPr lang="en-US" sz="1400" dirty="0">
                <a:solidFill>
                  <a:srgbClr val="2C2C2C"/>
                </a:solidFill>
                <a:latin typeface="Calibri" pitchFamily="34" charset="0"/>
                <a:ea typeface="Calibri" pitchFamily="34" charset="-122"/>
                <a:cs typeface="Calibri" pitchFamily="34" charset="-120"/>
              </a:rPr>
              <a:t>ŷᵢ = α + βxᵢ  (systematic part)</a:t>
            </a:r>
            <a:endParaRPr lang="en-US" sz="1400" dirty="0"/>
          </a:p>
        </p:txBody>
      </p:sp>
      <p:sp>
        <p:nvSpPr>
          <p:cNvPr id="9" name="Shape 7"/>
          <p:cNvSpPr/>
          <p:nvPr/>
        </p:nvSpPr>
        <p:spPr>
          <a:xfrm>
            <a:off x="4754880" y="1371600"/>
            <a:ext cx="3931920" cy="3200400"/>
          </a:xfrm>
          <a:prstGeom prst="roundRect">
            <a:avLst>
              <a:gd name="adj" fmla="val 2286"/>
            </a:avLst>
          </a:prstGeom>
          <a:solidFill>
            <a:srgbClr val="FFFFFF"/>
          </a:solidFill>
          <a:ln/>
          <a:effectLst>
            <a:outerShdw sx="100000" sy="100000" kx="0" ky="0" algn="bl" rotWithShape="0" blurRad="50800" dist="50800" dir="16200000">
              <a:srgbClr val="000000">
                <a:alpha val="8000"/>
              </a:srgbClr>
            </a:outerShdw>
          </a:effectLst>
        </p:spPr>
      </p:sp>
      <p:sp>
        <p:nvSpPr>
          <p:cNvPr id="10" name="Text 8"/>
          <p:cNvSpPr/>
          <p:nvPr/>
        </p:nvSpPr>
        <p:spPr>
          <a:xfrm>
            <a:off x="4937760" y="1554480"/>
            <a:ext cx="3566160" cy="320040"/>
          </a:xfrm>
          <a:prstGeom prst="rect">
            <a:avLst/>
          </a:prstGeom>
          <a:noFill/>
          <a:ln/>
        </p:spPr>
        <p:txBody>
          <a:bodyPr wrap="square" rtlCol="0" anchor="ctr"/>
          <a:lstStyle/>
          <a:p>
            <a:pPr indent="0" marL="0">
              <a:buNone/>
            </a:pPr>
            <a:r>
              <a:rPr lang="en-US" sz="1600" b="1" dirty="0">
                <a:solidFill>
                  <a:srgbClr val="1B2A4A"/>
                </a:solidFill>
                <a:latin typeface="Century Gothic" pitchFamily="34" charset="0"/>
                <a:ea typeface="Century Gothic" pitchFamily="34" charset="-122"/>
                <a:cs typeface="Century Gothic" pitchFamily="34" charset="-120"/>
              </a:rPr>
              <a:t>Sample Estimators</a:t>
            </a:r>
            <a:endParaRPr lang="en-US" sz="1600" dirty="0"/>
          </a:p>
        </p:txBody>
      </p:sp>
      <p:sp>
        <p:nvSpPr>
          <p:cNvPr id="11" name="Text 9"/>
          <p:cNvSpPr/>
          <p:nvPr/>
        </p:nvSpPr>
        <p:spPr>
          <a:xfrm>
            <a:off x="4937760" y="2011680"/>
            <a:ext cx="3566160" cy="822960"/>
          </a:xfrm>
          <a:prstGeom prst="rect">
            <a:avLst/>
          </a:prstGeom>
          <a:noFill/>
          <a:ln/>
        </p:spPr>
        <p:txBody>
          <a:bodyPr wrap="square" rtlCol="0" anchor="ctr"/>
          <a:lstStyle/>
          <a:p>
            <a:pPr indent="0" marL="0">
              <a:buNone/>
            </a:pPr>
            <a:r>
              <a:rPr lang="en-US" sz="1500" b="1" dirty="0">
                <a:solidFill>
                  <a:srgbClr val="0E7C86"/>
                </a:solidFill>
                <a:latin typeface="Century Gothic" pitchFamily="34" charset="0"/>
                <a:ea typeface="Century Gothic" pitchFamily="34" charset="-122"/>
                <a:cs typeface="Century Gothic" pitchFamily="34" charset="-120"/>
              </a:rPr>
              <a:t>a = ȳ − b x̄</a:t>
            </a:r>
            <a:endParaRPr lang="en-US" sz="1500" dirty="0"/>
          </a:p>
          <a:p>
            <a:pPr indent="0" marL="0">
              <a:buNone/>
            </a:pPr>
            <a:r>
              <a:rPr lang="en-US" sz="1500" b="1" dirty="0">
                <a:solidFill>
                  <a:srgbClr val="0E7C86"/>
                </a:solidFill>
                <a:latin typeface="Century Gothic" pitchFamily="34" charset="0"/>
                <a:ea typeface="Century Gothic" pitchFamily="34" charset="-122"/>
                <a:cs typeface="Century Gothic" pitchFamily="34" charset="-120"/>
              </a:rPr>
              <a:t>b = Σ(xᵢ−x̄)(yᵢ−ȳ) / Σ(xᵢ−x̄)²</a:t>
            </a:r>
            <a:endParaRPr lang="en-US" sz="1500" dirty="0"/>
          </a:p>
        </p:txBody>
      </p:sp>
      <p:sp>
        <p:nvSpPr>
          <p:cNvPr id="12" name="Text 10"/>
          <p:cNvSpPr/>
          <p:nvPr/>
        </p:nvSpPr>
        <p:spPr>
          <a:xfrm>
            <a:off x="4937760" y="3017520"/>
            <a:ext cx="3566160" cy="1188720"/>
          </a:xfrm>
          <a:prstGeom prst="rect">
            <a:avLst/>
          </a:prstGeom>
          <a:noFill/>
          <a:ln/>
        </p:spPr>
        <p:txBody>
          <a:bodyPr wrap="square" rtlCol="0" anchor="ctr"/>
          <a:lstStyle/>
          <a:p>
            <a:pPr indent="0" marL="0">
              <a:buNone/>
            </a:pPr>
            <a:r>
              <a:rPr lang="en-US" sz="1400" dirty="0">
                <a:solidFill>
                  <a:srgbClr val="2C2C2C"/>
                </a:solidFill>
                <a:latin typeface="Calibri" pitchFamily="34" charset="0"/>
                <a:ea typeface="Calibri" pitchFamily="34" charset="-122"/>
                <a:cs typeface="Calibri" pitchFamily="34" charset="-120"/>
              </a:rPr>
              <a:t>These formulas guarantee the line that minimizes the residual sum of squares. Any other line yields a larger Σ e².</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43"/>
          </a:solidFill>
          <a:ln/>
        </p:spPr>
      </p:sp>
      <p:sp>
        <p:nvSpPr>
          <p:cNvPr id="3" name="Text 1"/>
          <p:cNvSpPr/>
          <p:nvPr/>
        </p:nvSpPr>
        <p:spPr>
          <a:xfrm>
            <a:off x="457200" y="228600"/>
            <a:ext cx="8229600" cy="411480"/>
          </a:xfrm>
          <a:prstGeom prst="rect">
            <a:avLst/>
          </a:prstGeom>
          <a:noFill/>
          <a:ln/>
        </p:spPr>
        <p:txBody>
          <a:bodyPr wrap="square" rtlCol="0" anchor="ctr"/>
          <a:lstStyle/>
          <a:p>
            <a:pPr indent="0" marL="0">
              <a:buNone/>
            </a:pPr>
            <a:r>
              <a:rPr lang="en-US" sz="2200" b="1" dirty="0">
                <a:solidFill>
                  <a:srgbClr val="1B2A4A"/>
                </a:solidFill>
                <a:latin typeface="Century Gothic" pitchFamily="34" charset="0"/>
                <a:ea typeface="Century Gothic" pitchFamily="34" charset="-122"/>
                <a:cs typeface="Century Gothic" pitchFamily="34" charset="-120"/>
              </a:rPr>
              <a:t>GOODNESS OF FIT: R² vs ADJUSTED R²</a:t>
            </a:r>
            <a:endParaRPr lang="en-US" sz="2200" dirty="0"/>
          </a:p>
        </p:txBody>
      </p:sp>
      <p:sp>
        <p:nvSpPr>
          <p:cNvPr id="4" name="Shape 2"/>
          <p:cNvSpPr/>
          <p:nvPr/>
        </p:nvSpPr>
        <p:spPr>
          <a:xfrm>
            <a:off x="365760" y="868680"/>
            <a:ext cx="4114800" cy="3840480"/>
          </a:xfrm>
          <a:prstGeom prst="roundRect">
            <a:avLst>
              <a:gd name="adj" fmla="val 1905"/>
            </a:avLst>
          </a:prstGeom>
          <a:solidFill>
            <a:srgbClr val="FFFFFF"/>
          </a:solidFill>
          <a:ln/>
          <a:effectLst>
            <a:outerShdw sx="100000" sy="100000" kx="0" ky="0" algn="bl" rotWithShape="0" blurRad="50800" dist="50800" dir="16200000">
              <a:srgbClr val="000000">
                <a:alpha val="8000"/>
              </a:srgbClr>
            </a:outerShdw>
          </a:effectLst>
        </p:spPr>
      </p:sp>
      <p:sp>
        <p:nvSpPr>
          <p:cNvPr id="5" name="Text 3"/>
          <p:cNvSpPr/>
          <p:nvPr/>
        </p:nvSpPr>
        <p:spPr>
          <a:xfrm>
            <a:off x="548640" y="1051560"/>
            <a:ext cx="3749040" cy="365760"/>
          </a:xfrm>
          <a:prstGeom prst="rect">
            <a:avLst/>
          </a:prstGeom>
          <a:noFill/>
          <a:ln/>
        </p:spPr>
        <p:txBody>
          <a:bodyPr wrap="square" rtlCol="0" anchor="ctr"/>
          <a:lstStyle/>
          <a:p>
            <a:pPr indent="0" marL="0">
              <a:buNone/>
            </a:pPr>
            <a:r>
              <a:rPr lang="en-US" sz="2800" b="1" dirty="0">
                <a:solidFill>
                  <a:srgbClr val="0E7C86"/>
                </a:solidFill>
                <a:latin typeface="Century Gothic" pitchFamily="34" charset="0"/>
                <a:ea typeface="Century Gothic" pitchFamily="34" charset="-122"/>
                <a:cs typeface="Century Gothic" pitchFamily="34" charset="-120"/>
              </a:rPr>
              <a:t>R²</a:t>
            </a:r>
            <a:endParaRPr lang="en-US" sz="2800" dirty="0"/>
          </a:p>
        </p:txBody>
      </p:sp>
      <p:sp>
        <p:nvSpPr>
          <p:cNvPr id="6" name="Text 4"/>
          <p:cNvSpPr/>
          <p:nvPr/>
        </p:nvSpPr>
        <p:spPr>
          <a:xfrm>
            <a:off x="548640" y="1417320"/>
            <a:ext cx="3749040" cy="274320"/>
          </a:xfrm>
          <a:prstGeom prst="rect">
            <a:avLst/>
          </a:prstGeom>
          <a:noFill/>
          <a:ln/>
        </p:spPr>
        <p:txBody>
          <a:bodyPr wrap="square"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Coefficient of Determination</a:t>
            </a:r>
            <a:endParaRPr lang="en-US" sz="1400" dirty="0"/>
          </a:p>
        </p:txBody>
      </p:sp>
      <p:sp>
        <p:nvSpPr>
          <p:cNvPr id="7" name="Text 5"/>
          <p:cNvSpPr/>
          <p:nvPr/>
        </p:nvSpPr>
        <p:spPr>
          <a:xfrm>
            <a:off x="548640" y="1920240"/>
            <a:ext cx="3749040" cy="2468880"/>
          </a:xfrm>
          <a:prstGeom prst="rect">
            <a:avLst/>
          </a:prstGeom>
          <a:noFill/>
          <a:ln/>
        </p:spPr>
        <p:txBody>
          <a:bodyPr wrap="square" rtlCol="0" anchor="ctr"/>
          <a:lstStyle/>
          <a:p>
            <a:pPr indent="0" marL="0">
              <a:lnSpc>
                <a:spcPct val="125000"/>
              </a:lnSpc>
              <a:buNone/>
            </a:pPr>
            <a:r>
              <a:rPr lang="en-US" sz="1400" dirty="0">
                <a:solidFill>
                  <a:srgbClr val="2C2C2C"/>
                </a:solidFill>
                <a:latin typeface="Calibri" pitchFamily="34" charset="0"/>
                <a:ea typeface="Calibri" pitchFamily="34" charset="-122"/>
                <a:cs typeface="Calibri" pitchFamily="34" charset="-120"/>
              </a:rPr>
              <a:t>Proportion of variance in Y accounted for by the model.</a:t>
            </a:r>
            <a:endParaRPr lang="en-US" sz="1400" dirty="0"/>
          </a:p>
          <a:p>
            <a:pPr indent="0" marL="0">
              <a:lnSpc>
                <a:spcPct val="125000"/>
              </a:lnSpc>
              <a:buNone/>
            </a:pPr>
            <a:endParaRPr lang="en-US" sz="1400" dirty="0"/>
          </a:p>
          <a:p>
            <a:pPr indent="0" marL="0">
              <a:lnSpc>
                <a:spcPct val="125000"/>
              </a:lnSpc>
              <a:buNone/>
            </a:pPr>
            <a:r>
              <a:rPr lang="en-US" sz="1400" dirty="0">
                <a:solidFill>
                  <a:srgbClr val="2C2C2C"/>
                </a:solidFill>
                <a:latin typeface="Calibri" pitchFamily="34" charset="0"/>
                <a:ea typeface="Calibri" pitchFamily="34" charset="-122"/>
                <a:cs typeface="Calibri" pitchFamily="34" charset="-120"/>
              </a:rPr>
              <a:t>• Always increases (or stays) when predictors are added</a:t>
            </a:r>
            <a:endParaRPr lang="en-US" sz="1400" dirty="0"/>
          </a:p>
          <a:p>
            <a:pPr indent="0" marL="0">
              <a:lnSpc>
                <a:spcPct val="125000"/>
              </a:lnSpc>
              <a:buNone/>
            </a:pPr>
            <a:r>
              <a:rPr lang="en-US" sz="1400" dirty="0">
                <a:solidFill>
                  <a:srgbClr val="2C2C2C"/>
                </a:solidFill>
                <a:latin typeface="Calibri" pitchFamily="34" charset="0"/>
                <a:ea typeface="Calibri" pitchFamily="34" charset="-122"/>
                <a:cs typeface="Calibri" pitchFamily="34" charset="-120"/>
              </a:rPr>
              <a:t>• Biased upward in small samples</a:t>
            </a:r>
            <a:endParaRPr lang="en-US" sz="1400" dirty="0"/>
          </a:p>
          <a:p>
            <a:pPr indent="0" marL="0">
              <a:lnSpc>
                <a:spcPct val="125000"/>
              </a:lnSpc>
              <a:buNone/>
            </a:pPr>
            <a:r>
              <a:rPr lang="en-US" sz="1400" dirty="0">
                <a:solidFill>
                  <a:srgbClr val="2C2C2C"/>
                </a:solidFill>
                <a:latin typeface="Calibri" pitchFamily="34" charset="0"/>
                <a:ea typeface="Calibri" pitchFamily="34" charset="-122"/>
                <a:cs typeface="Calibri" pitchFamily="34" charset="-120"/>
              </a:rPr>
              <a:t>• Can encourage overfitting</a:t>
            </a:r>
            <a:endParaRPr lang="en-US" sz="1400" dirty="0"/>
          </a:p>
          <a:p>
            <a:pPr indent="0" marL="0">
              <a:lnSpc>
                <a:spcPct val="125000"/>
              </a:lnSpc>
              <a:buNone/>
            </a:pPr>
            <a:r>
              <a:rPr lang="en-US" sz="1400" dirty="0">
                <a:solidFill>
                  <a:srgbClr val="2C2C2C"/>
                </a:solidFill>
                <a:latin typeface="Calibri" pitchFamily="34" charset="0"/>
                <a:ea typeface="Calibri" pitchFamily="34" charset="-122"/>
                <a:cs typeface="Calibri" pitchFamily="34" charset="-120"/>
              </a:rPr>
              <a:t>• Equals squared correlation of observed and predicted values</a:t>
            </a:r>
            <a:endParaRPr lang="en-US" sz="1400" dirty="0"/>
          </a:p>
        </p:txBody>
      </p:sp>
      <p:sp>
        <p:nvSpPr>
          <p:cNvPr id="8" name="Shape 6"/>
          <p:cNvSpPr/>
          <p:nvPr/>
        </p:nvSpPr>
        <p:spPr>
          <a:xfrm>
            <a:off x="4663440" y="868680"/>
            <a:ext cx="4114800" cy="3840480"/>
          </a:xfrm>
          <a:prstGeom prst="roundRect">
            <a:avLst>
              <a:gd name="adj" fmla="val 1905"/>
            </a:avLst>
          </a:prstGeom>
          <a:solidFill>
            <a:srgbClr val="FFFFFF"/>
          </a:solidFill>
          <a:ln/>
          <a:effectLst>
            <a:outerShdw sx="100000" sy="100000" kx="0" ky="0" algn="bl" rotWithShape="0" blurRad="50800" dist="50800" dir="16200000">
              <a:srgbClr val="000000">
                <a:alpha val="8000"/>
              </a:srgbClr>
            </a:outerShdw>
          </a:effectLst>
        </p:spPr>
      </p:sp>
      <p:sp>
        <p:nvSpPr>
          <p:cNvPr id="9" name="Text 7"/>
          <p:cNvSpPr/>
          <p:nvPr/>
        </p:nvSpPr>
        <p:spPr>
          <a:xfrm>
            <a:off x="4846320" y="1051560"/>
            <a:ext cx="3749040" cy="365760"/>
          </a:xfrm>
          <a:prstGeom prst="rect">
            <a:avLst/>
          </a:prstGeom>
          <a:noFill/>
          <a:ln/>
        </p:spPr>
        <p:txBody>
          <a:bodyPr wrap="square" rtlCol="0" anchor="ctr"/>
          <a:lstStyle/>
          <a:p>
            <a:pPr indent="0" marL="0">
              <a:buNone/>
            </a:pPr>
            <a:r>
              <a:rPr lang="en-US" sz="2800" b="1" dirty="0">
                <a:solidFill>
                  <a:srgbClr val="D4A843"/>
                </a:solidFill>
                <a:latin typeface="Century Gothic" pitchFamily="34" charset="0"/>
                <a:ea typeface="Century Gothic" pitchFamily="34" charset="-122"/>
                <a:cs typeface="Century Gothic" pitchFamily="34" charset="-120"/>
              </a:rPr>
              <a:t>Adj. R²</a:t>
            </a:r>
            <a:endParaRPr lang="en-US" sz="2800" dirty="0"/>
          </a:p>
        </p:txBody>
      </p:sp>
      <p:sp>
        <p:nvSpPr>
          <p:cNvPr id="10" name="Text 8"/>
          <p:cNvSpPr/>
          <p:nvPr/>
        </p:nvSpPr>
        <p:spPr>
          <a:xfrm>
            <a:off x="4846320" y="1417320"/>
            <a:ext cx="3749040" cy="274320"/>
          </a:xfrm>
          <a:prstGeom prst="rect">
            <a:avLst/>
          </a:prstGeom>
          <a:noFill/>
          <a:ln/>
        </p:spPr>
        <p:txBody>
          <a:bodyPr wrap="square"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Penalized for Complexity</a:t>
            </a:r>
            <a:endParaRPr lang="en-US" sz="1400" dirty="0"/>
          </a:p>
        </p:txBody>
      </p:sp>
      <p:sp>
        <p:nvSpPr>
          <p:cNvPr id="11" name="Text 9"/>
          <p:cNvSpPr/>
          <p:nvPr/>
        </p:nvSpPr>
        <p:spPr>
          <a:xfrm>
            <a:off x="4846320" y="1920240"/>
            <a:ext cx="3749040" cy="2468880"/>
          </a:xfrm>
          <a:prstGeom prst="rect">
            <a:avLst/>
          </a:prstGeom>
          <a:noFill/>
          <a:ln/>
        </p:spPr>
        <p:txBody>
          <a:bodyPr wrap="square" rtlCol="0" anchor="ctr"/>
          <a:lstStyle/>
          <a:p>
            <a:pPr indent="0" marL="0">
              <a:lnSpc>
                <a:spcPct val="125000"/>
              </a:lnSpc>
              <a:buNone/>
            </a:pPr>
            <a:r>
              <a:rPr lang="en-US" sz="1400" dirty="0">
                <a:solidFill>
                  <a:srgbClr val="2C2C2C"/>
                </a:solidFill>
                <a:latin typeface="Calibri" pitchFamily="34" charset="0"/>
                <a:ea typeface="Calibri" pitchFamily="34" charset="-122"/>
                <a:cs typeface="Calibri" pitchFamily="34" charset="-120"/>
              </a:rPr>
              <a:t>R²_adj = 1 − (1−R²)(n−1)/(n−p)</a:t>
            </a:r>
            <a:endParaRPr lang="en-US" sz="1400" dirty="0"/>
          </a:p>
          <a:p>
            <a:pPr indent="0" marL="0">
              <a:lnSpc>
                <a:spcPct val="125000"/>
              </a:lnSpc>
              <a:buNone/>
            </a:pPr>
            <a:endParaRPr lang="en-US" sz="1400" dirty="0"/>
          </a:p>
          <a:p>
            <a:pPr indent="0" marL="0">
              <a:lnSpc>
                <a:spcPct val="125000"/>
              </a:lnSpc>
              <a:buNone/>
            </a:pPr>
            <a:r>
              <a:rPr lang="en-US" sz="1400" dirty="0">
                <a:solidFill>
                  <a:srgbClr val="2C2C2C"/>
                </a:solidFill>
                <a:latin typeface="Calibri" pitchFamily="34" charset="0"/>
                <a:ea typeface="Calibri" pitchFamily="34" charset="-122"/>
                <a:cs typeface="Calibri" pitchFamily="34" charset="-120"/>
              </a:rPr>
              <a:t>• Rewards parsimony</a:t>
            </a:r>
            <a:endParaRPr lang="en-US" sz="1400" dirty="0"/>
          </a:p>
          <a:p>
            <a:pPr indent="0" marL="0">
              <a:lnSpc>
                <a:spcPct val="125000"/>
              </a:lnSpc>
              <a:buNone/>
            </a:pPr>
            <a:r>
              <a:rPr lang="en-US" sz="1400" dirty="0">
                <a:solidFill>
                  <a:srgbClr val="2C2C2C"/>
                </a:solidFill>
                <a:latin typeface="Calibri" pitchFamily="34" charset="0"/>
                <a:ea typeface="Calibri" pitchFamily="34" charset="-122"/>
                <a:cs typeface="Calibri" pitchFamily="34" charset="-120"/>
              </a:rPr>
              <a:t>• Can decrease when weak predictors are added</a:t>
            </a:r>
            <a:endParaRPr lang="en-US" sz="1400" dirty="0"/>
          </a:p>
          <a:p>
            <a:pPr indent="0" marL="0">
              <a:lnSpc>
                <a:spcPct val="125000"/>
              </a:lnSpc>
              <a:buNone/>
            </a:pPr>
            <a:r>
              <a:rPr lang="en-US" sz="1400" dirty="0">
                <a:solidFill>
                  <a:srgbClr val="2C2C2C"/>
                </a:solidFill>
                <a:latin typeface="Calibri" pitchFamily="34" charset="0"/>
                <a:ea typeface="Calibri" pitchFamily="34" charset="-122"/>
                <a:cs typeface="Calibri" pitchFamily="34" charset="-120"/>
              </a:rPr>
              <a:t>• Preferred for model comparison</a:t>
            </a:r>
            <a:endParaRPr lang="en-US" sz="1400" dirty="0"/>
          </a:p>
          <a:p>
            <a:pPr indent="0" marL="0">
              <a:lnSpc>
                <a:spcPct val="125000"/>
              </a:lnSpc>
              <a:buNone/>
            </a:pPr>
            <a:r>
              <a:rPr lang="en-US" sz="1400" dirty="0">
                <a:solidFill>
                  <a:srgbClr val="2C2C2C"/>
                </a:solidFill>
                <a:latin typeface="Calibri" pitchFamily="34" charset="0"/>
                <a:ea typeface="Calibri" pitchFamily="34" charset="-122"/>
                <a:cs typeface="Calibri" pitchFamily="34" charset="-120"/>
              </a:rPr>
              <a:t>• Aligns with scientific preference for simpler explanations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43"/>
          </a:solidFill>
          <a:ln/>
        </p:spPr>
      </p:sp>
      <p:sp>
        <p:nvSpPr>
          <p:cNvPr id="3" name="Text 1"/>
          <p:cNvSpPr/>
          <p:nvPr/>
        </p:nvSpPr>
        <p:spPr>
          <a:xfrm>
            <a:off x="457200" y="228600"/>
            <a:ext cx="8229600" cy="411480"/>
          </a:xfrm>
          <a:prstGeom prst="rect">
            <a:avLst/>
          </a:prstGeom>
          <a:noFill/>
          <a:ln/>
        </p:spPr>
        <p:txBody>
          <a:bodyPr wrap="square" rtlCol="0" anchor="ctr"/>
          <a:lstStyle/>
          <a:p>
            <a:pPr indent="0" marL="0">
              <a:buNone/>
            </a:pPr>
            <a:r>
              <a:rPr lang="en-US" sz="2200" b="1" dirty="0">
                <a:solidFill>
                  <a:srgbClr val="1B2A4A"/>
                </a:solidFill>
                <a:latin typeface="Century Gothic" pitchFamily="34" charset="0"/>
                <a:ea typeface="Century Gothic" pitchFamily="34" charset="-122"/>
                <a:cs typeface="Century Gothic" pitchFamily="34" charset="-120"/>
              </a:rPr>
              <a:t>SIMPLE vs MULTIPLE REGRESSION</a:t>
            </a:r>
            <a:endParaRPr lang="en-US" sz="2200" dirty="0"/>
          </a:p>
        </p:txBody>
      </p:sp>
      <p:sp>
        <p:nvSpPr>
          <p:cNvPr id="4" name="Shape 2"/>
          <p:cNvSpPr/>
          <p:nvPr/>
        </p:nvSpPr>
        <p:spPr>
          <a:xfrm>
            <a:off x="365760" y="868680"/>
            <a:ext cx="4114800" cy="3840480"/>
          </a:xfrm>
          <a:prstGeom prst="roundRect">
            <a:avLst>
              <a:gd name="adj" fmla="val 1905"/>
            </a:avLst>
          </a:prstGeom>
          <a:solidFill>
            <a:srgbClr val="FFFFFF"/>
          </a:solidFill>
          <a:ln/>
          <a:effectLst>
            <a:outerShdw sx="100000" sy="100000" kx="0" ky="0" algn="bl" rotWithShape="0" blurRad="50800" dist="50800" dir="16200000">
              <a:srgbClr val="000000">
                <a:alpha val="8000"/>
              </a:srgbClr>
            </a:outerShdw>
          </a:effectLst>
        </p:spPr>
      </p:sp>
      <p:sp>
        <p:nvSpPr>
          <p:cNvPr id="5" name="Text 3"/>
          <p:cNvSpPr/>
          <p:nvPr/>
        </p:nvSpPr>
        <p:spPr>
          <a:xfrm>
            <a:off x="548640" y="1051560"/>
            <a:ext cx="3749040" cy="320040"/>
          </a:xfrm>
          <a:prstGeom prst="rect">
            <a:avLst/>
          </a:prstGeom>
          <a:noFill/>
          <a:ln/>
        </p:spPr>
        <p:txBody>
          <a:bodyPr wrap="square" rtlCol="0" anchor="ctr"/>
          <a:lstStyle/>
          <a:p>
            <a:pPr indent="0" marL="0">
              <a:buNone/>
            </a:pPr>
            <a:r>
              <a:rPr lang="en-US" sz="1800" b="1" dirty="0">
                <a:solidFill>
                  <a:srgbClr val="1B2A4A"/>
                </a:solidFill>
                <a:latin typeface="Century Gothic" pitchFamily="34" charset="0"/>
                <a:ea typeface="Century Gothic" pitchFamily="34" charset="-122"/>
                <a:cs typeface="Century Gothic" pitchFamily="34" charset="-120"/>
              </a:rPr>
              <a:t>Simple Linear</a:t>
            </a:r>
            <a:endParaRPr lang="en-US" sz="1800" dirty="0"/>
          </a:p>
        </p:txBody>
      </p:sp>
      <p:sp>
        <p:nvSpPr>
          <p:cNvPr id="6" name="Text 4"/>
          <p:cNvSpPr/>
          <p:nvPr/>
        </p:nvSpPr>
        <p:spPr>
          <a:xfrm>
            <a:off x="548640" y="1417320"/>
            <a:ext cx="3749040" cy="320040"/>
          </a:xfrm>
          <a:prstGeom prst="rect">
            <a:avLst/>
          </a:prstGeom>
          <a:noFill/>
          <a:ln/>
        </p:spPr>
        <p:txBody>
          <a:bodyPr wrap="square" rtlCol="0" anchor="ctr"/>
          <a:lstStyle/>
          <a:p>
            <a:pPr indent="0" marL="0">
              <a:buNone/>
            </a:pPr>
            <a:r>
              <a:rPr lang="en-US" sz="1600" b="1" dirty="0">
                <a:solidFill>
                  <a:srgbClr val="0E7C86"/>
                </a:solidFill>
                <a:latin typeface="Century Gothic" pitchFamily="34" charset="0"/>
                <a:ea typeface="Century Gothic" pitchFamily="34" charset="-122"/>
                <a:cs typeface="Century Gothic" pitchFamily="34" charset="-120"/>
              </a:rPr>
              <a:t>y = α + βx + ε</a:t>
            </a:r>
            <a:endParaRPr lang="en-US" sz="1600" dirty="0"/>
          </a:p>
        </p:txBody>
      </p:sp>
      <p:sp>
        <p:nvSpPr>
          <p:cNvPr id="7" name="Text 5"/>
          <p:cNvSpPr/>
          <p:nvPr/>
        </p:nvSpPr>
        <p:spPr>
          <a:xfrm>
            <a:off x="548640" y="1920240"/>
            <a:ext cx="3749040" cy="2377440"/>
          </a:xfrm>
          <a:prstGeom prst="rect">
            <a:avLst/>
          </a:prstGeom>
          <a:noFill/>
          <a:ln/>
        </p:spPr>
        <p:txBody>
          <a:bodyPr wrap="square" rtlCol="0" anchor="ctr"/>
          <a:lstStyle/>
          <a:p>
            <a:pPr indent="0" marL="0">
              <a:lnSpc>
                <a:spcPct val="130000"/>
              </a:lnSpc>
              <a:buNone/>
            </a:pPr>
            <a:r>
              <a:rPr lang="en-US" sz="1400" dirty="0">
                <a:solidFill>
                  <a:srgbClr val="2C2C2C"/>
                </a:solidFill>
                <a:latin typeface="Calibri" pitchFamily="34" charset="0"/>
                <a:ea typeface="Calibri" pitchFamily="34" charset="-122"/>
                <a:cs typeface="Calibri" pitchFamily="34" charset="-120"/>
              </a:rPr>
              <a:t>• One predictor</a:t>
            </a:r>
            <a:endParaRPr lang="en-US" sz="1400" dirty="0"/>
          </a:p>
          <a:p>
            <a:pPr indent="0" marL="0">
              <a:lnSpc>
                <a:spcPct val="130000"/>
              </a:lnSpc>
              <a:buNone/>
            </a:pPr>
            <a:r>
              <a:rPr lang="en-US" sz="1400" dirty="0">
                <a:solidFill>
                  <a:srgbClr val="2C2C2C"/>
                </a:solidFill>
                <a:latin typeface="Calibri" pitchFamily="34" charset="0"/>
                <a:ea typeface="Calibri" pitchFamily="34" charset="-122"/>
                <a:cs typeface="Calibri" pitchFamily="34" charset="-120"/>
              </a:rPr>
              <a:t>• Slope is the expected change in Y for a one-unit change in X</a:t>
            </a:r>
            <a:endParaRPr lang="en-US" sz="1400" dirty="0"/>
          </a:p>
          <a:p>
            <a:pPr indent="0" marL="0">
              <a:lnSpc>
                <a:spcPct val="130000"/>
              </a:lnSpc>
              <a:buNone/>
            </a:pPr>
            <a:r>
              <a:rPr lang="en-US" sz="1400" dirty="0">
                <a:solidFill>
                  <a:srgbClr val="2C2C2C"/>
                </a:solidFill>
                <a:latin typeface="Calibri" pitchFamily="34" charset="0"/>
                <a:ea typeface="Calibri" pitchFamily="34" charset="-122"/>
                <a:cs typeface="Calibri" pitchFamily="34" charset="-120"/>
              </a:rPr>
              <a:t>• Interpretation is relatively straightforward</a:t>
            </a:r>
            <a:endParaRPr lang="en-US" sz="1400" dirty="0"/>
          </a:p>
          <a:p>
            <a:pPr indent="0" marL="0">
              <a:lnSpc>
                <a:spcPct val="130000"/>
              </a:lnSpc>
              <a:buNone/>
            </a:pPr>
            <a:r>
              <a:rPr lang="en-US" sz="1400" dirty="0">
                <a:solidFill>
                  <a:srgbClr val="2C2C2C"/>
                </a:solidFill>
                <a:latin typeface="Calibri" pitchFamily="34" charset="0"/>
                <a:ea typeface="Calibri" pitchFamily="34" charset="-122"/>
                <a:cs typeface="Calibri" pitchFamily="34" charset="-120"/>
              </a:rPr>
              <a:t>• Still a model — excluding other variables is itself a modeling decision</a:t>
            </a:r>
            <a:endParaRPr lang="en-US" sz="1400" dirty="0"/>
          </a:p>
        </p:txBody>
      </p:sp>
      <p:sp>
        <p:nvSpPr>
          <p:cNvPr id="8" name="Shape 6"/>
          <p:cNvSpPr/>
          <p:nvPr/>
        </p:nvSpPr>
        <p:spPr>
          <a:xfrm>
            <a:off x="4663440" y="868680"/>
            <a:ext cx="4114800" cy="3840480"/>
          </a:xfrm>
          <a:prstGeom prst="roundRect">
            <a:avLst>
              <a:gd name="adj" fmla="val 1905"/>
            </a:avLst>
          </a:prstGeom>
          <a:solidFill>
            <a:srgbClr val="FFFFFF"/>
          </a:solidFill>
          <a:ln/>
          <a:effectLst>
            <a:outerShdw sx="100000" sy="100000" kx="0" ky="0" algn="bl" rotWithShape="0" blurRad="50800" dist="50800" dir="16200000">
              <a:srgbClr val="000000">
                <a:alpha val="8000"/>
              </a:srgbClr>
            </a:outerShdw>
          </a:effectLst>
        </p:spPr>
      </p:sp>
      <p:sp>
        <p:nvSpPr>
          <p:cNvPr id="9" name="Text 7"/>
          <p:cNvSpPr/>
          <p:nvPr/>
        </p:nvSpPr>
        <p:spPr>
          <a:xfrm>
            <a:off x="4846320" y="1051560"/>
            <a:ext cx="3749040" cy="320040"/>
          </a:xfrm>
          <a:prstGeom prst="rect">
            <a:avLst/>
          </a:prstGeom>
          <a:noFill/>
          <a:ln/>
        </p:spPr>
        <p:txBody>
          <a:bodyPr wrap="square" rtlCol="0" anchor="ctr"/>
          <a:lstStyle/>
          <a:p>
            <a:pPr indent="0" marL="0">
              <a:buNone/>
            </a:pPr>
            <a:r>
              <a:rPr lang="en-US" sz="1800" b="1" dirty="0">
                <a:solidFill>
                  <a:srgbClr val="1B2A4A"/>
                </a:solidFill>
                <a:latin typeface="Century Gothic" pitchFamily="34" charset="0"/>
                <a:ea typeface="Century Gothic" pitchFamily="34" charset="-122"/>
                <a:cs typeface="Century Gothic" pitchFamily="34" charset="-120"/>
              </a:rPr>
              <a:t>Multiple Linear</a:t>
            </a:r>
            <a:endParaRPr lang="en-US" sz="1800" dirty="0"/>
          </a:p>
        </p:txBody>
      </p:sp>
      <p:sp>
        <p:nvSpPr>
          <p:cNvPr id="10" name="Text 8"/>
          <p:cNvSpPr/>
          <p:nvPr/>
        </p:nvSpPr>
        <p:spPr>
          <a:xfrm>
            <a:off x="4846320" y="1417320"/>
            <a:ext cx="3749040" cy="320040"/>
          </a:xfrm>
          <a:prstGeom prst="rect">
            <a:avLst/>
          </a:prstGeom>
          <a:noFill/>
          <a:ln/>
        </p:spPr>
        <p:txBody>
          <a:bodyPr wrap="square" rtlCol="0" anchor="ctr"/>
          <a:lstStyle/>
          <a:p>
            <a:pPr indent="0" marL="0">
              <a:buNone/>
            </a:pPr>
            <a:r>
              <a:rPr lang="en-US" sz="1400" b="1" dirty="0">
                <a:solidFill>
                  <a:srgbClr val="0E7C86"/>
                </a:solidFill>
                <a:latin typeface="Century Gothic" pitchFamily="34" charset="0"/>
                <a:ea typeface="Century Gothic" pitchFamily="34" charset="-122"/>
                <a:cs typeface="Century Gothic" pitchFamily="34" charset="-120"/>
              </a:rPr>
              <a:t>y = α + β₁x₁ + … + βₚxₚ + ε</a:t>
            </a:r>
            <a:endParaRPr lang="en-US" sz="1400" dirty="0"/>
          </a:p>
        </p:txBody>
      </p:sp>
      <p:sp>
        <p:nvSpPr>
          <p:cNvPr id="11" name="Text 9"/>
          <p:cNvSpPr/>
          <p:nvPr/>
        </p:nvSpPr>
        <p:spPr>
          <a:xfrm>
            <a:off x="4846320" y="1920240"/>
            <a:ext cx="3749040" cy="2377440"/>
          </a:xfrm>
          <a:prstGeom prst="rect">
            <a:avLst/>
          </a:prstGeom>
          <a:noFill/>
          <a:ln/>
        </p:spPr>
        <p:txBody>
          <a:bodyPr wrap="square" rtlCol="0" anchor="ctr"/>
          <a:lstStyle/>
          <a:p>
            <a:pPr indent="0" marL="0">
              <a:lnSpc>
                <a:spcPct val="130000"/>
              </a:lnSpc>
              <a:buNone/>
            </a:pPr>
            <a:r>
              <a:rPr lang="en-US" sz="1400" dirty="0">
                <a:solidFill>
                  <a:srgbClr val="2C2C2C"/>
                </a:solidFill>
                <a:latin typeface="Calibri" pitchFamily="34" charset="0"/>
                <a:ea typeface="Calibri" pitchFamily="34" charset="-122"/>
                <a:cs typeface="Calibri" pitchFamily="34" charset="-120"/>
              </a:rPr>
              <a:t>• Several predictors</a:t>
            </a:r>
            <a:endParaRPr lang="en-US" sz="1400" dirty="0"/>
          </a:p>
          <a:p>
            <a:pPr indent="0" marL="0">
              <a:lnSpc>
                <a:spcPct val="130000"/>
              </a:lnSpc>
              <a:buNone/>
            </a:pPr>
            <a:r>
              <a:rPr lang="en-US" sz="1400" dirty="0">
                <a:solidFill>
                  <a:srgbClr val="2C2C2C"/>
                </a:solidFill>
                <a:latin typeface="Calibri" pitchFamily="34" charset="0"/>
                <a:ea typeface="Calibri" pitchFamily="34" charset="-122"/>
                <a:cs typeface="Calibri" pitchFamily="34" charset="-120"/>
              </a:rPr>
              <a:t>• Coefficients are partial regression weights</a:t>
            </a:r>
            <a:endParaRPr lang="en-US" sz="1400" dirty="0"/>
          </a:p>
          <a:p>
            <a:pPr indent="0" marL="0">
              <a:lnSpc>
                <a:spcPct val="130000"/>
              </a:lnSpc>
              <a:buNone/>
            </a:pPr>
            <a:r>
              <a:rPr lang="en-US" sz="1400" dirty="0">
                <a:solidFill>
                  <a:srgbClr val="2C2C2C"/>
                </a:solidFill>
                <a:latin typeface="Calibri" pitchFamily="34" charset="0"/>
                <a:ea typeface="Calibri" pitchFamily="34" charset="-122"/>
                <a:cs typeface="Calibri" pitchFamily="34" charset="-120"/>
              </a:rPr>
              <a:t>• Must be interpreted holding other predictors constant</a:t>
            </a:r>
            <a:endParaRPr lang="en-US" sz="1400" dirty="0"/>
          </a:p>
          <a:p>
            <a:pPr indent="0" marL="0">
              <a:lnSpc>
                <a:spcPct val="130000"/>
              </a:lnSpc>
              <a:buNone/>
            </a:pPr>
            <a:r>
              <a:rPr lang="en-US" sz="1400" dirty="0">
                <a:solidFill>
                  <a:srgbClr val="2C2C2C"/>
                </a:solidFill>
                <a:latin typeface="Calibri" pitchFamily="34" charset="0"/>
                <a:ea typeface="Calibri" pitchFamily="34" charset="-122"/>
                <a:cs typeface="Calibri" pitchFamily="34" charset="-120"/>
              </a:rPr>
              <a:t>• Context-dependency is unavoidable and central</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43"/>
          </a:solidFill>
          <a:ln/>
        </p:spPr>
      </p:sp>
      <p:sp>
        <p:nvSpPr>
          <p:cNvPr id="3" name="Text 1"/>
          <p:cNvSpPr/>
          <p:nvPr/>
        </p:nvSpPr>
        <p:spPr>
          <a:xfrm>
            <a:off x="457200" y="274320"/>
            <a:ext cx="8229600" cy="365760"/>
          </a:xfrm>
          <a:prstGeom prst="rect">
            <a:avLst/>
          </a:prstGeom>
          <a:noFill/>
          <a:ln/>
        </p:spPr>
        <p:txBody>
          <a:bodyPr wrap="square" rtlCol="0" anchor="ctr"/>
          <a:lstStyle/>
          <a:p>
            <a:pPr indent="0" marL="0">
              <a:buNone/>
            </a:pPr>
            <a:r>
              <a:rPr lang="en-US" sz="1600" b="1" dirty="0">
                <a:solidFill>
                  <a:srgbClr val="D4A843"/>
                </a:solidFill>
                <a:latin typeface="Century Gothic" pitchFamily="34" charset="0"/>
                <a:ea typeface="Century Gothic" pitchFamily="34" charset="-122"/>
                <a:cs typeface="Century Gothic" pitchFamily="34" charset="-120"/>
              </a:rPr>
              <a:t>UNIVERSAL PRINCIPLE OF STATISTICAL MODELING</a:t>
            </a:r>
            <a:endParaRPr lang="en-US" sz="1600" dirty="0"/>
          </a:p>
        </p:txBody>
      </p:sp>
      <p:sp>
        <p:nvSpPr>
          <p:cNvPr id="4" name="Text 2"/>
          <p:cNvSpPr/>
          <p:nvPr/>
        </p:nvSpPr>
        <p:spPr>
          <a:xfrm>
            <a:off x="457200" y="1097280"/>
            <a:ext cx="8229600" cy="1645920"/>
          </a:xfrm>
          <a:prstGeom prst="rect">
            <a:avLst/>
          </a:prstGeom>
          <a:noFill/>
          <a:ln/>
        </p:spPr>
        <p:txBody>
          <a:bodyPr wrap="square" rtlCol="0" anchor="ctr"/>
          <a:lstStyle/>
          <a:p>
            <a:pPr indent="0" marL="0">
              <a:buNone/>
            </a:pPr>
            <a:r>
              <a:rPr lang="en-US" sz="4000" b="1" dirty="0">
                <a:solidFill>
                  <a:srgbClr val="FFFFFF"/>
                </a:solidFill>
                <a:latin typeface="Century Gothic" pitchFamily="34" charset="0"/>
                <a:ea typeface="Century Gothic" pitchFamily="34" charset="-122"/>
                <a:cs typeface="Century Gothic" pitchFamily="34" charset="-120"/>
              </a:rPr>
              <a:t>All models are</a:t>
            </a:r>
            <a:endParaRPr lang="en-US" sz="4000" dirty="0"/>
          </a:p>
          <a:p>
            <a:pPr indent="0" marL="0">
              <a:buNone/>
            </a:pPr>
            <a:r>
              <a:rPr lang="en-US" sz="4000" b="1" dirty="0">
                <a:solidFill>
                  <a:srgbClr val="FFFFFF"/>
                </a:solidFill>
                <a:latin typeface="Century Gothic" pitchFamily="34" charset="0"/>
                <a:ea typeface="Century Gothic" pitchFamily="34" charset="-122"/>
                <a:cs typeface="Century Gothic" pitchFamily="34" charset="-120"/>
              </a:rPr>
              <a:t>context-dependent.</a:t>
            </a:r>
            <a:endParaRPr lang="en-US" sz="4000" dirty="0"/>
          </a:p>
        </p:txBody>
      </p:sp>
      <p:sp>
        <p:nvSpPr>
          <p:cNvPr id="5" name="Text 3"/>
          <p:cNvSpPr/>
          <p:nvPr/>
        </p:nvSpPr>
        <p:spPr>
          <a:xfrm>
            <a:off x="457200" y="3017520"/>
            <a:ext cx="8229600" cy="1371600"/>
          </a:xfrm>
          <a:prstGeom prst="rect">
            <a:avLst/>
          </a:prstGeom>
          <a:noFill/>
          <a:ln/>
        </p:spPr>
        <p:txBody>
          <a:bodyPr wrap="square" rtlCol="0" anchor="ctr"/>
          <a:lstStyle/>
          <a:p>
            <a:pPr indent="0" marL="0">
              <a:buNone/>
            </a:pPr>
            <a:r>
              <a:rPr lang="en-US" sz="1600" dirty="0">
                <a:solidFill>
                  <a:srgbClr val="E8E4DD"/>
                </a:solidFill>
                <a:latin typeface="Calibri" pitchFamily="34" charset="0"/>
                <a:ea typeface="Calibri" pitchFamily="34" charset="-122"/>
                <a:cs typeface="Calibri" pitchFamily="34" charset="-120"/>
              </a:rPr>
              <a:t>A coefficient of 0.70 for anxiety predicting depression only exists in the presence of the other variables that were also in the model. Remove social isolation and the coefficient for anxiety can change. The estimate is never “anxiety’s effect, period.”</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43"/>
          </a:solidFill>
          <a:ln/>
        </p:spPr>
      </p:sp>
      <p:sp>
        <p:nvSpPr>
          <p:cNvPr id="3" name="Text 1"/>
          <p:cNvSpPr/>
          <p:nvPr/>
        </p:nvSpPr>
        <p:spPr>
          <a:xfrm>
            <a:off x="457200" y="228600"/>
            <a:ext cx="8229600" cy="411480"/>
          </a:xfrm>
          <a:prstGeom prst="rect">
            <a:avLst/>
          </a:prstGeom>
          <a:noFill/>
          <a:ln/>
        </p:spPr>
        <p:txBody>
          <a:bodyPr wrap="square" rtlCol="0" anchor="ctr"/>
          <a:lstStyle/>
          <a:p>
            <a:pPr indent="0" marL="0">
              <a:buNone/>
            </a:pPr>
            <a:r>
              <a:rPr lang="en-US" sz="2200" b="1" dirty="0">
                <a:solidFill>
                  <a:srgbClr val="1B2A4A"/>
                </a:solidFill>
                <a:latin typeface="Century Gothic" pitchFamily="34" charset="0"/>
                <a:ea typeface="Century Gothic" pitchFamily="34" charset="-122"/>
                <a:cs typeface="Century Gothic" pitchFamily="34" charset="-120"/>
              </a:rPr>
              <a:t>PYTHON WORKFLOW (HIGH LEVEL)</a:t>
            </a:r>
            <a:endParaRPr lang="en-US" sz="2200" dirty="0"/>
          </a:p>
        </p:txBody>
      </p:sp>
      <p:sp>
        <p:nvSpPr>
          <p:cNvPr id="4" name="Shape 2"/>
          <p:cNvSpPr/>
          <p:nvPr/>
        </p:nvSpPr>
        <p:spPr>
          <a:xfrm>
            <a:off x="457200" y="868680"/>
            <a:ext cx="8229600" cy="822960"/>
          </a:xfrm>
          <a:prstGeom prst="roundRect">
            <a:avLst>
              <a:gd name="adj" fmla="val 6667"/>
            </a:avLst>
          </a:prstGeom>
          <a:solidFill>
            <a:srgbClr val="FFFFFF"/>
          </a:solidFill>
          <a:ln/>
          <a:effectLst>
            <a:outerShdw sx="100000" sy="100000" kx="0" ky="0" algn="bl" rotWithShape="0" blurRad="50800" dist="50800" dir="16200000">
              <a:srgbClr val="000000">
                <a:alpha val="8000"/>
              </a:srgbClr>
            </a:outerShdw>
          </a:effectLst>
        </p:spPr>
      </p:sp>
      <p:sp>
        <p:nvSpPr>
          <p:cNvPr id="5" name="Text 3"/>
          <p:cNvSpPr/>
          <p:nvPr/>
        </p:nvSpPr>
        <p:spPr>
          <a:xfrm>
            <a:off x="640080" y="1051560"/>
            <a:ext cx="914400" cy="457200"/>
          </a:xfrm>
          <a:prstGeom prst="rect">
            <a:avLst/>
          </a:prstGeom>
          <a:noFill/>
          <a:ln/>
        </p:spPr>
        <p:txBody>
          <a:bodyPr wrap="square" rtlCol="0" anchor="ctr"/>
          <a:lstStyle/>
          <a:p>
            <a:pPr indent="0" marL="0">
              <a:buNone/>
            </a:pPr>
            <a:r>
              <a:rPr lang="en-US" sz="2200" b="1" dirty="0">
                <a:solidFill>
                  <a:srgbClr val="D4A843"/>
                </a:solidFill>
                <a:latin typeface="Century Gothic" pitchFamily="34" charset="0"/>
                <a:ea typeface="Century Gothic" pitchFamily="34" charset="-122"/>
                <a:cs typeface="Century Gothic" pitchFamily="34" charset="-120"/>
              </a:rPr>
              <a:t>01</a:t>
            </a:r>
            <a:endParaRPr lang="en-US" sz="2200" dirty="0"/>
          </a:p>
        </p:txBody>
      </p:sp>
      <p:sp>
        <p:nvSpPr>
          <p:cNvPr id="6" name="Text 4"/>
          <p:cNvSpPr/>
          <p:nvPr/>
        </p:nvSpPr>
        <p:spPr>
          <a:xfrm>
            <a:off x="1737360" y="1005840"/>
            <a:ext cx="6675120" cy="274320"/>
          </a:xfrm>
          <a:prstGeom prst="rect">
            <a:avLst/>
          </a:prstGeom>
          <a:noFill/>
          <a:ln/>
        </p:spPr>
        <p:txBody>
          <a:bodyPr wrap="square" rtlCol="0" anchor="ctr"/>
          <a:lstStyle/>
          <a:p>
            <a:pPr indent="0" marL="0">
              <a:buNone/>
            </a:pPr>
            <a:r>
              <a:rPr lang="en-US" sz="1600" b="1" dirty="0">
                <a:solidFill>
                  <a:srgbClr val="1B2A4A"/>
                </a:solidFill>
                <a:latin typeface="Century Gothic" pitchFamily="34" charset="0"/>
                <a:ea typeface="Century Gothic" pitchFamily="34" charset="-122"/>
                <a:cs typeface="Century Gothic" pitchFamily="34" charset="-120"/>
              </a:rPr>
              <a:t>Load &amp; Explore</a:t>
            </a:r>
            <a:endParaRPr lang="en-US" sz="1600" dirty="0"/>
          </a:p>
        </p:txBody>
      </p:sp>
      <p:sp>
        <p:nvSpPr>
          <p:cNvPr id="7" name="Text 5"/>
          <p:cNvSpPr/>
          <p:nvPr/>
        </p:nvSpPr>
        <p:spPr>
          <a:xfrm>
            <a:off x="1737360" y="1307592"/>
            <a:ext cx="6675120" cy="274320"/>
          </a:xfrm>
          <a:prstGeom prst="rect">
            <a:avLst/>
          </a:prstGeom>
          <a:noFill/>
          <a:ln/>
        </p:spPr>
        <p:txBody>
          <a:bodyPr wrap="square" rtlCol="0" anchor="ctr"/>
          <a:lstStyle/>
          <a:p>
            <a:pPr indent="0" marL="0">
              <a:buNone/>
            </a:pPr>
            <a:r>
              <a:rPr lang="en-US" sz="1300" dirty="0">
                <a:solidFill>
                  <a:srgbClr val="2C2C2C"/>
                </a:solidFill>
                <a:latin typeface="Calibri" pitchFamily="34" charset="0"/>
                <a:ea typeface="Calibri" pitchFamily="34" charset="-122"/>
                <a:cs typeface="Calibri" pitchFamily="34" charset="-120"/>
              </a:rPr>
              <a:t>pandas / pyreadstat  ·  scatterplots  ·  correlation matrix</a:t>
            </a:r>
            <a:endParaRPr lang="en-US" sz="1300" dirty="0"/>
          </a:p>
        </p:txBody>
      </p:sp>
      <p:sp>
        <p:nvSpPr>
          <p:cNvPr id="8" name="Shape 6"/>
          <p:cNvSpPr/>
          <p:nvPr/>
        </p:nvSpPr>
        <p:spPr>
          <a:xfrm>
            <a:off x="457200" y="1828800"/>
            <a:ext cx="8229600" cy="822960"/>
          </a:xfrm>
          <a:prstGeom prst="roundRect">
            <a:avLst>
              <a:gd name="adj" fmla="val 6667"/>
            </a:avLst>
          </a:prstGeom>
          <a:solidFill>
            <a:srgbClr val="FFFFFF"/>
          </a:solidFill>
          <a:ln/>
          <a:effectLst>
            <a:outerShdw sx="100000" sy="100000" kx="0" ky="0" algn="bl" rotWithShape="0" blurRad="50800" dist="50800" dir="16200000">
              <a:srgbClr val="000000">
                <a:alpha val="8000"/>
              </a:srgbClr>
            </a:outerShdw>
          </a:effectLst>
        </p:spPr>
      </p:sp>
      <p:sp>
        <p:nvSpPr>
          <p:cNvPr id="9" name="Text 7"/>
          <p:cNvSpPr/>
          <p:nvPr/>
        </p:nvSpPr>
        <p:spPr>
          <a:xfrm>
            <a:off x="640080" y="2011680"/>
            <a:ext cx="914400" cy="457200"/>
          </a:xfrm>
          <a:prstGeom prst="rect">
            <a:avLst/>
          </a:prstGeom>
          <a:noFill/>
          <a:ln/>
        </p:spPr>
        <p:txBody>
          <a:bodyPr wrap="square" rtlCol="0" anchor="ctr"/>
          <a:lstStyle/>
          <a:p>
            <a:pPr indent="0" marL="0">
              <a:buNone/>
            </a:pPr>
            <a:r>
              <a:rPr lang="en-US" sz="2200" b="1" dirty="0">
                <a:solidFill>
                  <a:srgbClr val="D4A843"/>
                </a:solidFill>
                <a:latin typeface="Century Gothic" pitchFamily="34" charset="0"/>
                <a:ea typeface="Century Gothic" pitchFamily="34" charset="-122"/>
                <a:cs typeface="Century Gothic" pitchFamily="34" charset="-120"/>
              </a:rPr>
              <a:t>02</a:t>
            </a:r>
            <a:endParaRPr lang="en-US" sz="2200" dirty="0"/>
          </a:p>
        </p:txBody>
      </p:sp>
      <p:sp>
        <p:nvSpPr>
          <p:cNvPr id="10" name="Text 8"/>
          <p:cNvSpPr/>
          <p:nvPr/>
        </p:nvSpPr>
        <p:spPr>
          <a:xfrm>
            <a:off x="1737360" y="1965960"/>
            <a:ext cx="6675120" cy="274320"/>
          </a:xfrm>
          <a:prstGeom prst="rect">
            <a:avLst/>
          </a:prstGeom>
          <a:noFill/>
          <a:ln/>
        </p:spPr>
        <p:txBody>
          <a:bodyPr wrap="square" rtlCol="0" anchor="ctr"/>
          <a:lstStyle/>
          <a:p>
            <a:pPr indent="0" marL="0">
              <a:buNone/>
            </a:pPr>
            <a:r>
              <a:rPr lang="en-US" sz="1600" b="1" dirty="0">
                <a:solidFill>
                  <a:srgbClr val="1B2A4A"/>
                </a:solidFill>
                <a:latin typeface="Century Gothic" pitchFamily="34" charset="0"/>
                <a:ea typeface="Century Gothic" pitchFamily="34" charset="-122"/>
                <a:cs typeface="Century Gothic" pitchFamily="34" charset="-120"/>
              </a:rPr>
              <a:t>Simple OLS</a:t>
            </a:r>
            <a:endParaRPr lang="en-US" sz="1600" dirty="0"/>
          </a:p>
        </p:txBody>
      </p:sp>
      <p:sp>
        <p:nvSpPr>
          <p:cNvPr id="11" name="Text 9"/>
          <p:cNvSpPr/>
          <p:nvPr/>
        </p:nvSpPr>
        <p:spPr>
          <a:xfrm>
            <a:off x="1737360" y="2267712"/>
            <a:ext cx="6675120" cy="274320"/>
          </a:xfrm>
          <a:prstGeom prst="rect">
            <a:avLst/>
          </a:prstGeom>
          <a:noFill/>
          <a:ln/>
        </p:spPr>
        <p:txBody>
          <a:bodyPr wrap="square" rtlCol="0" anchor="ctr"/>
          <a:lstStyle/>
          <a:p>
            <a:pPr indent="0" marL="0">
              <a:buNone/>
            </a:pPr>
            <a:r>
              <a:rPr lang="en-US" sz="1300" dirty="0">
                <a:solidFill>
                  <a:srgbClr val="2C2C2C"/>
                </a:solidFill>
                <a:latin typeface="Calibri" pitchFamily="34" charset="0"/>
                <a:ea typeface="Calibri" pitchFamily="34" charset="-122"/>
                <a:cs typeface="Calibri" pitchFamily="34" charset="-120"/>
              </a:rPr>
              <a:t>statsmodels.api.OLS  ·  add_constant  ·  summary()</a:t>
            </a:r>
            <a:endParaRPr lang="en-US" sz="1300" dirty="0"/>
          </a:p>
        </p:txBody>
      </p:sp>
      <p:sp>
        <p:nvSpPr>
          <p:cNvPr id="12" name="Shape 10"/>
          <p:cNvSpPr/>
          <p:nvPr/>
        </p:nvSpPr>
        <p:spPr>
          <a:xfrm>
            <a:off x="457200" y="2788920"/>
            <a:ext cx="8229600" cy="822960"/>
          </a:xfrm>
          <a:prstGeom prst="roundRect">
            <a:avLst>
              <a:gd name="adj" fmla="val 6667"/>
            </a:avLst>
          </a:prstGeom>
          <a:solidFill>
            <a:srgbClr val="FFFFFF"/>
          </a:solidFill>
          <a:ln/>
          <a:effectLst>
            <a:outerShdw sx="100000" sy="100000" kx="0" ky="0" algn="bl" rotWithShape="0" blurRad="50800" dist="50800" dir="16200000">
              <a:srgbClr val="000000">
                <a:alpha val="8000"/>
              </a:srgbClr>
            </a:outerShdw>
          </a:effectLst>
        </p:spPr>
      </p:sp>
      <p:sp>
        <p:nvSpPr>
          <p:cNvPr id="13" name="Text 11"/>
          <p:cNvSpPr/>
          <p:nvPr/>
        </p:nvSpPr>
        <p:spPr>
          <a:xfrm>
            <a:off x="640080" y="2971800"/>
            <a:ext cx="914400" cy="457200"/>
          </a:xfrm>
          <a:prstGeom prst="rect">
            <a:avLst/>
          </a:prstGeom>
          <a:noFill/>
          <a:ln/>
        </p:spPr>
        <p:txBody>
          <a:bodyPr wrap="square" rtlCol="0" anchor="ctr"/>
          <a:lstStyle/>
          <a:p>
            <a:pPr indent="0" marL="0">
              <a:buNone/>
            </a:pPr>
            <a:r>
              <a:rPr lang="en-US" sz="2200" b="1" dirty="0">
                <a:solidFill>
                  <a:srgbClr val="D4A843"/>
                </a:solidFill>
                <a:latin typeface="Century Gothic" pitchFamily="34" charset="0"/>
                <a:ea typeface="Century Gothic" pitchFamily="34" charset="-122"/>
                <a:cs typeface="Century Gothic" pitchFamily="34" charset="-120"/>
              </a:rPr>
              <a:t>03</a:t>
            </a:r>
            <a:endParaRPr lang="en-US" sz="2200" dirty="0"/>
          </a:p>
        </p:txBody>
      </p:sp>
      <p:sp>
        <p:nvSpPr>
          <p:cNvPr id="14" name="Text 12"/>
          <p:cNvSpPr/>
          <p:nvPr/>
        </p:nvSpPr>
        <p:spPr>
          <a:xfrm>
            <a:off x="1737360" y="2926080"/>
            <a:ext cx="6675120" cy="274320"/>
          </a:xfrm>
          <a:prstGeom prst="rect">
            <a:avLst/>
          </a:prstGeom>
          <a:noFill/>
          <a:ln/>
        </p:spPr>
        <p:txBody>
          <a:bodyPr wrap="square" rtlCol="0" anchor="ctr"/>
          <a:lstStyle/>
          <a:p>
            <a:pPr indent="0" marL="0">
              <a:buNone/>
            </a:pPr>
            <a:r>
              <a:rPr lang="en-US" sz="1600" b="1" dirty="0">
                <a:solidFill>
                  <a:srgbClr val="1B2A4A"/>
                </a:solidFill>
                <a:latin typeface="Century Gothic" pitchFamily="34" charset="0"/>
                <a:ea typeface="Century Gothic" pitchFamily="34" charset="-122"/>
                <a:cs typeface="Century Gothic" pitchFamily="34" charset="-120"/>
              </a:rPr>
              <a:t>Multiple OLS</a:t>
            </a:r>
            <a:endParaRPr lang="en-US" sz="1600" dirty="0"/>
          </a:p>
        </p:txBody>
      </p:sp>
      <p:sp>
        <p:nvSpPr>
          <p:cNvPr id="15" name="Text 13"/>
          <p:cNvSpPr/>
          <p:nvPr/>
        </p:nvSpPr>
        <p:spPr>
          <a:xfrm>
            <a:off x="1737360" y="3227832"/>
            <a:ext cx="6675120" cy="274320"/>
          </a:xfrm>
          <a:prstGeom prst="rect">
            <a:avLst/>
          </a:prstGeom>
          <a:noFill/>
          <a:ln/>
        </p:spPr>
        <p:txBody>
          <a:bodyPr wrap="square" rtlCol="0" anchor="ctr"/>
          <a:lstStyle/>
          <a:p>
            <a:pPr indent="0" marL="0">
              <a:buNone/>
            </a:pPr>
            <a:r>
              <a:rPr lang="en-US" sz="1300" dirty="0">
                <a:solidFill>
                  <a:srgbClr val="2C2C2C"/>
                </a:solidFill>
                <a:latin typeface="Calibri" pitchFamily="34" charset="0"/>
                <a:ea typeface="Calibri" pitchFamily="34" charset="-122"/>
                <a:cs typeface="Calibri" pitchFamily="34" charset="-120"/>
              </a:rPr>
              <a:t>Partial coefficients  ·  VIF  ·  residual diagnostics</a:t>
            </a:r>
            <a:endParaRPr lang="en-US" sz="1300" dirty="0"/>
          </a:p>
        </p:txBody>
      </p:sp>
      <p:sp>
        <p:nvSpPr>
          <p:cNvPr id="16" name="Shape 14"/>
          <p:cNvSpPr/>
          <p:nvPr/>
        </p:nvSpPr>
        <p:spPr>
          <a:xfrm>
            <a:off x="457200" y="3749040"/>
            <a:ext cx="8229600" cy="822960"/>
          </a:xfrm>
          <a:prstGeom prst="roundRect">
            <a:avLst>
              <a:gd name="adj" fmla="val 6667"/>
            </a:avLst>
          </a:prstGeom>
          <a:solidFill>
            <a:srgbClr val="FFFFFF"/>
          </a:solidFill>
          <a:ln/>
          <a:effectLst>
            <a:outerShdw sx="100000" sy="100000" kx="0" ky="0" algn="bl" rotWithShape="0" blurRad="50800" dist="50800" dir="16200000">
              <a:srgbClr val="000000">
                <a:alpha val="8000"/>
              </a:srgbClr>
            </a:outerShdw>
          </a:effectLst>
        </p:spPr>
      </p:sp>
      <p:sp>
        <p:nvSpPr>
          <p:cNvPr id="17" name="Text 15"/>
          <p:cNvSpPr/>
          <p:nvPr/>
        </p:nvSpPr>
        <p:spPr>
          <a:xfrm>
            <a:off x="640080" y="3931920"/>
            <a:ext cx="914400" cy="457200"/>
          </a:xfrm>
          <a:prstGeom prst="rect">
            <a:avLst/>
          </a:prstGeom>
          <a:noFill/>
          <a:ln/>
        </p:spPr>
        <p:txBody>
          <a:bodyPr wrap="square" rtlCol="0" anchor="ctr"/>
          <a:lstStyle/>
          <a:p>
            <a:pPr indent="0" marL="0">
              <a:buNone/>
            </a:pPr>
            <a:r>
              <a:rPr lang="en-US" sz="2200" b="1" dirty="0">
                <a:solidFill>
                  <a:srgbClr val="D4A843"/>
                </a:solidFill>
                <a:latin typeface="Century Gothic" pitchFamily="34" charset="0"/>
                <a:ea typeface="Century Gothic" pitchFamily="34" charset="-122"/>
                <a:cs typeface="Century Gothic" pitchFamily="34" charset="-120"/>
              </a:rPr>
              <a:t>04</a:t>
            </a:r>
            <a:endParaRPr lang="en-US" sz="2200" dirty="0"/>
          </a:p>
        </p:txBody>
      </p:sp>
      <p:sp>
        <p:nvSpPr>
          <p:cNvPr id="18" name="Text 16"/>
          <p:cNvSpPr/>
          <p:nvPr/>
        </p:nvSpPr>
        <p:spPr>
          <a:xfrm>
            <a:off x="1737360" y="3886200"/>
            <a:ext cx="6675120" cy="274320"/>
          </a:xfrm>
          <a:prstGeom prst="rect">
            <a:avLst/>
          </a:prstGeom>
          <a:noFill/>
          <a:ln/>
        </p:spPr>
        <p:txBody>
          <a:bodyPr wrap="square" rtlCol="0" anchor="ctr"/>
          <a:lstStyle/>
          <a:p>
            <a:pPr indent="0" marL="0">
              <a:buNone/>
            </a:pPr>
            <a:r>
              <a:rPr lang="en-US" sz="1600" b="1" dirty="0">
                <a:solidFill>
                  <a:srgbClr val="1B2A4A"/>
                </a:solidFill>
                <a:latin typeface="Century Gothic" pitchFamily="34" charset="0"/>
                <a:ea typeface="Century Gothic" pitchFamily="34" charset="-122"/>
                <a:cs typeface="Century Gothic" pitchFamily="34" charset="-120"/>
              </a:rPr>
              <a:t>Compare &amp; Report</a:t>
            </a:r>
            <a:endParaRPr lang="en-US" sz="1600" dirty="0"/>
          </a:p>
        </p:txBody>
      </p:sp>
      <p:sp>
        <p:nvSpPr>
          <p:cNvPr id="19" name="Text 17"/>
          <p:cNvSpPr/>
          <p:nvPr/>
        </p:nvSpPr>
        <p:spPr>
          <a:xfrm>
            <a:off x="1737360" y="4187952"/>
            <a:ext cx="6675120" cy="274320"/>
          </a:xfrm>
          <a:prstGeom prst="rect">
            <a:avLst/>
          </a:prstGeom>
          <a:noFill/>
          <a:ln/>
        </p:spPr>
        <p:txBody>
          <a:bodyPr wrap="square" rtlCol="0" anchor="ctr"/>
          <a:lstStyle/>
          <a:p>
            <a:pPr indent="0" marL="0">
              <a:buNone/>
            </a:pPr>
            <a:r>
              <a:rPr lang="en-US" sz="1300" dirty="0">
                <a:solidFill>
                  <a:srgbClr val="2C2C2C"/>
                </a:solidFill>
                <a:latin typeface="Calibri" pitchFamily="34" charset="0"/>
                <a:ea typeface="Calibri" pitchFamily="34" charset="-122"/>
                <a:cs typeface="Calibri" pitchFamily="34" charset="-120"/>
              </a:rPr>
              <a:t>Adj. R² / AIC  ·  context statements  ·  limitations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43"/>
          </a:solidFill>
          <a:ln/>
        </p:spPr>
      </p:sp>
      <p:sp>
        <p:nvSpPr>
          <p:cNvPr id="3" name="Text 1"/>
          <p:cNvSpPr/>
          <p:nvPr/>
        </p:nvSpPr>
        <p:spPr>
          <a:xfrm>
            <a:off x="457200" y="228600"/>
            <a:ext cx="8229600" cy="411480"/>
          </a:xfrm>
          <a:prstGeom prst="rect">
            <a:avLst/>
          </a:prstGeom>
          <a:noFill/>
          <a:ln/>
        </p:spPr>
        <p:txBody>
          <a:bodyPr wrap="square" rtlCol="0" anchor="ctr"/>
          <a:lstStyle/>
          <a:p>
            <a:pPr indent="0" marL="0">
              <a:buNone/>
            </a:pPr>
            <a:r>
              <a:rPr lang="en-US" sz="2200" b="1" dirty="0">
                <a:solidFill>
                  <a:srgbClr val="1B2A4A"/>
                </a:solidFill>
                <a:latin typeface="Century Gothic" pitchFamily="34" charset="0"/>
                <a:ea typeface="Century Gothic" pitchFamily="34" charset="-122"/>
                <a:cs typeface="Century Gothic" pitchFamily="34" charset="-120"/>
              </a:rPr>
              <a:t>MODEL-BUILDING STRATEGIES</a:t>
            </a:r>
            <a:endParaRPr lang="en-US" sz="2200" dirty="0"/>
          </a:p>
        </p:txBody>
      </p:sp>
      <p:sp>
        <p:nvSpPr>
          <p:cNvPr id="4" name="Shape 2"/>
          <p:cNvSpPr/>
          <p:nvPr/>
        </p:nvSpPr>
        <p:spPr>
          <a:xfrm>
            <a:off x="457200" y="868680"/>
            <a:ext cx="8229600" cy="1097280"/>
          </a:xfrm>
          <a:prstGeom prst="roundRect">
            <a:avLst>
              <a:gd name="adj" fmla="val 5000"/>
            </a:avLst>
          </a:prstGeom>
          <a:solidFill>
            <a:srgbClr val="FFFFFF"/>
          </a:solidFill>
          <a:ln/>
          <a:effectLst>
            <a:outerShdw sx="100000" sy="100000" kx="0" ky="0" algn="bl" rotWithShape="0" blurRad="50800" dist="50800" dir="16200000">
              <a:srgbClr val="000000">
                <a:alpha val="8000"/>
              </a:srgbClr>
            </a:outerShdw>
          </a:effectLst>
        </p:spPr>
      </p:sp>
      <p:sp>
        <p:nvSpPr>
          <p:cNvPr id="5" name="Text 3"/>
          <p:cNvSpPr/>
          <p:nvPr/>
        </p:nvSpPr>
        <p:spPr>
          <a:xfrm>
            <a:off x="640080" y="1051560"/>
            <a:ext cx="7863840" cy="274320"/>
          </a:xfrm>
          <a:prstGeom prst="rect">
            <a:avLst/>
          </a:prstGeom>
          <a:noFill/>
          <a:ln/>
        </p:spPr>
        <p:txBody>
          <a:bodyPr wrap="square" rtlCol="0" anchor="ctr"/>
          <a:lstStyle/>
          <a:p>
            <a:pPr indent="0" marL="0">
              <a:buNone/>
            </a:pPr>
            <a:r>
              <a:rPr lang="en-US" sz="1600" b="1" dirty="0">
                <a:solidFill>
                  <a:srgbClr val="1B2A4A"/>
                </a:solidFill>
                <a:latin typeface="Century Gothic" pitchFamily="34" charset="0"/>
                <a:ea typeface="Century Gothic" pitchFamily="34" charset="-122"/>
                <a:cs typeface="Century Gothic" pitchFamily="34" charset="-120"/>
              </a:rPr>
              <a:t>Simultaneous (Full Entry)</a:t>
            </a:r>
            <a:endParaRPr lang="en-US" sz="1600" dirty="0"/>
          </a:p>
        </p:txBody>
      </p:sp>
      <p:sp>
        <p:nvSpPr>
          <p:cNvPr id="6" name="Text 4"/>
          <p:cNvSpPr/>
          <p:nvPr/>
        </p:nvSpPr>
        <p:spPr>
          <a:xfrm>
            <a:off x="640080" y="1371600"/>
            <a:ext cx="7863840" cy="457200"/>
          </a:xfrm>
          <a:prstGeom prst="rect">
            <a:avLst/>
          </a:prstGeom>
          <a:noFill/>
          <a:ln/>
        </p:spPr>
        <p:txBody>
          <a:bodyPr wrap="square" rtlCol="0" anchor="ctr"/>
          <a:lstStyle/>
          <a:p>
            <a:pPr indent="0" marL="0">
              <a:buNone/>
            </a:pPr>
            <a:r>
              <a:rPr lang="en-US" sz="1400" dirty="0">
                <a:solidFill>
                  <a:srgbClr val="2C2C2C"/>
                </a:solidFill>
                <a:latin typeface="Calibri" pitchFamily="34" charset="0"/>
                <a:ea typeface="Calibri" pitchFamily="34" charset="-122"/>
                <a:cs typeface="Calibri" pitchFamily="34" charset="-120"/>
              </a:rPr>
              <a:t>Enter all candidate predictors at once. Default recommendation when theory guides the set.</a:t>
            </a:r>
            <a:endParaRPr lang="en-US" sz="1400" dirty="0"/>
          </a:p>
        </p:txBody>
      </p:sp>
      <p:sp>
        <p:nvSpPr>
          <p:cNvPr id="7" name="Shape 5"/>
          <p:cNvSpPr/>
          <p:nvPr/>
        </p:nvSpPr>
        <p:spPr>
          <a:xfrm>
            <a:off x="457200" y="2103120"/>
            <a:ext cx="8229600" cy="1097280"/>
          </a:xfrm>
          <a:prstGeom prst="roundRect">
            <a:avLst>
              <a:gd name="adj" fmla="val 5000"/>
            </a:avLst>
          </a:prstGeom>
          <a:solidFill>
            <a:srgbClr val="FFFFFF"/>
          </a:solidFill>
          <a:ln/>
          <a:effectLst>
            <a:outerShdw sx="100000" sy="100000" kx="0" ky="0" algn="bl" rotWithShape="0" blurRad="50800" dist="50800" dir="16200000">
              <a:srgbClr val="000000">
                <a:alpha val="8000"/>
              </a:srgbClr>
            </a:outerShdw>
          </a:effectLst>
        </p:spPr>
      </p:sp>
      <p:sp>
        <p:nvSpPr>
          <p:cNvPr id="8" name="Text 6"/>
          <p:cNvSpPr/>
          <p:nvPr/>
        </p:nvSpPr>
        <p:spPr>
          <a:xfrm>
            <a:off x="640080" y="2286000"/>
            <a:ext cx="7863840" cy="274320"/>
          </a:xfrm>
          <a:prstGeom prst="rect">
            <a:avLst/>
          </a:prstGeom>
          <a:noFill/>
          <a:ln/>
        </p:spPr>
        <p:txBody>
          <a:bodyPr wrap="square" rtlCol="0" anchor="ctr"/>
          <a:lstStyle/>
          <a:p>
            <a:pPr indent="0" marL="0">
              <a:buNone/>
            </a:pPr>
            <a:r>
              <a:rPr lang="en-US" sz="1600" b="1" dirty="0">
                <a:solidFill>
                  <a:srgbClr val="1B2A4A"/>
                </a:solidFill>
                <a:latin typeface="Century Gothic" pitchFamily="34" charset="0"/>
                <a:ea typeface="Century Gothic" pitchFamily="34" charset="-122"/>
                <a:cs typeface="Century Gothic" pitchFamily="34" charset="-120"/>
              </a:rPr>
              <a:t>Hierarchical</a:t>
            </a:r>
            <a:endParaRPr lang="en-US" sz="1600" dirty="0"/>
          </a:p>
        </p:txBody>
      </p:sp>
      <p:sp>
        <p:nvSpPr>
          <p:cNvPr id="9" name="Text 7"/>
          <p:cNvSpPr/>
          <p:nvPr/>
        </p:nvSpPr>
        <p:spPr>
          <a:xfrm>
            <a:off x="640080" y="2606040"/>
            <a:ext cx="7863840" cy="457200"/>
          </a:xfrm>
          <a:prstGeom prst="rect">
            <a:avLst/>
          </a:prstGeom>
          <a:noFill/>
          <a:ln/>
        </p:spPr>
        <p:txBody>
          <a:bodyPr wrap="square" rtlCol="0" anchor="ctr"/>
          <a:lstStyle/>
          <a:p>
            <a:pPr indent="0" marL="0">
              <a:buNone/>
            </a:pPr>
            <a:r>
              <a:rPr lang="en-US" sz="1400" dirty="0">
                <a:solidFill>
                  <a:srgbClr val="2C2C2C"/>
                </a:solidFill>
                <a:latin typeface="Calibri" pitchFamily="34" charset="0"/>
                <a:ea typeface="Calibri" pitchFamily="34" charset="-122"/>
                <a:cs typeface="Calibri" pitchFamily="34" charset="-120"/>
              </a:rPr>
              <a:t>Enter predictors in planned blocks. Useful for incremental variance questions. Final model identical to simultaneous.</a:t>
            </a:r>
            <a:endParaRPr lang="en-US" sz="1400" dirty="0"/>
          </a:p>
        </p:txBody>
      </p:sp>
      <p:sp>
        <p:nvSpPr>
          <p:cNvPr id="10" name="Shape 8"/>
          <p:cNvSpPr/>
          <p:nvPr/>
        </p:nvSpPr>
        <p:spPr>
          <a:xfrm>
            <a:off x="457200" y="3337560"/>
            <a:ext cx="8229600" cy="1097280"/>
          </a:xfrm>
          <a:prstGeom prst="roundRect">
            <a:avLst>
              <a:gd name="adj" fmla="val 5000"/>
            </a:avLst>
          </a:prstGeom>
          <a:solidFill>
            <a:srgbClr val="FFFFFF"/>
          </a:solidFill>
          <a:ln/>
          <a:effectLst>
            <a:outerShdw sx="100000" sy="100000" kx="0" ky="0" algn="bl" rotWithShape="0" blurRad="50800" dist="50800" dir="16200000">
              <a:srgbClr val="000000">
                <a:alpha val="8000"/>
              </a:srgbClr>
            </a:outerShdw>
          </a:effectLst>
        </p:spPr>
      </p:sp>
      <p:sp>
        <p:nvSpPr>
          <p:cNvPr id="11" name="Text 9"/>
          <p:cNvSpPr/>
          <p:nvPr/>
        </p:nvSpPr>
        <p:spPr>
          <a:xfrm>
            <a:off x="640080" y="3520440"/>
            <a:ext cx="7863840" cy="274320"/>
          </a:xfrm>
          <a:prstGeom prst="rect">
            <a:avLst/>
          </a:prstGeom>
          <a:noFill/>
          <a:ln/>
        </p:spPr>
        <p:txBody>
          <a:bodyPr wrap="square" rtlCol="0" anchor="ctr"/>
          <a:lstStyle/>
          <a:p>
            <a:pPr indent="0" marL="0">
              <a:buNone/>
            </a:pPr>
            <a:r>
              <a:rPr lang="en-US" sz="1600" b="1" dirty="0">
                <a:solidFill>
                  <a:srgbClr val="1B2A4A"/>
                </a:solidFill>
                <a:latin typeface="Century Gothic" pitchFamily="34" charset="0"/>
                <a:ea typeface="Century Gothic" pitchFamily="34" charset="-122"/>
                <a:cs typeface="Century Gothic" pitchFamily="34" charset="-120"/>
              </a:rPr>
              <a:t>Forward / Backward / Stepwise</a:t>
            </a:r>
            <a:endParaRPr lang="en-US" sz="1600" dirty="0"/>
          </a:p>
        </p:txBody>
      </p:sp>
      <p:sp>
        <p:nvSpPr>
          <p:cNvPr id="12" name="Text 10"/>
          <p:cNvSpPr/>
          <p:nvPr/>
        </p:nvSpPr>
        <p:spPr>
          <a:xfrm>
            <a:off x="640080" y="3840480"/>
            <a:ext cx="7863840" cy="457200"/>
          </a:xfrm>
          <a:prstGeom prst="rect">
            <a:avLst/>
          </a:prstGeom>
          <a:noFill/>
          <a:ln/>
        </p:spPr>
        <p:txBody>
          <a:bodyPr wrap="square" rtlCol="0" anchor="ctr"/>
          <a:lstStyle/>
          <a:p>
            <a:pPr indent="0" marL="0">
              <a:buNone/>
            </a:pPr>
            <a:r>
              <a:rPr lang="en-US" sz="1400" dirty="0">
                <a:solidFill>
                  <a:srgbClr val="2C2C2C"/>
                </a:solidFill>
                <a:latin typeface="Calibri" pitchFamily="34" charset="0"/>
                <a:ea typeface="Calibri" pitchFamily="34" charset="-122"/>
                <a:cs typeface="Calibri" pitchFamily="34" charset="-120"/>
              </a:rPr>
              <a:t>Algorithmic search. Can produce biased SEs and inflated Type I error. Use with explicit caveats.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43"/>
          </a:solidFill>
          <a:ln/>
        </p:spPr>
      </p:sp>
      <p:sp>
        <p:nvSpPr>
          <p:cNvPr id="3" name="Text 1"/>
          <p:cNvSpPr/>
          <p:nvPr/>
        </p:nvSpPr>
        <p:spPr>
          <a:xfrm>
            <a:off x="457200" y="228600"/>
            <a:ext cx="8229600" cy="411480"/>
          </a:xfrm>
          <a:prstGeom prst="rect">
            <a:avLst/>
          </a:prstGeom>
          <a:noFill/>
          <a:ln/>
        </p:spPr>
        <p:txBody>
          <a:bodyPr wrap="square" rtlCol="0" anchor="ctr"/>
          <a:lstStyle/>
          <a:p>
            <a:pPr indent="0" marL="0">
              <a:buNone/>
            </a:pPr>
            <a:r>
              <a:rPr lang="en-US" sz="2200" b="1" dirty="0">
                <a:solidFill>
                  <a:srgbClr val="1B2A4A"/>
                </a:solidFill>
                <a:latin typeface="Century Gothic" pitchFamily="34" charset="0"/>
                <a:ea typeface="Century Gothic" pitchFamily="34" charset="-122"/>
                <a:cs typeface="Century Gothic" pitchFamily="34" charset="-120"/>
              </a:rPr>
              <a:t>KEY CAUTIONS FROM THE LITERATURE</a:t>
            </a:r>
            <a:endParaRPr lang="en-US" sz="2200" dirty="0"/>
          </a:p>
        </p:txBody>
      </p:sp>
      <p:sp>
        <p:nvSpPr>
          <p:cNvPr id="4" name="Shape 2"/>
          <p:cNvSpPr/>
          <p:nvPr/>
        </p:nvSpPr>
        <p:spPr>
          <a:xfrm>
            <a:off x="365760" y="868680"/>
            <a:ext cx="4114800" cy="1737360"/>
          </a:xfrm>
          <a:prstGeom prst="roundRect">
            <a:avLst>
              <a:gd name="adj" fmla="val 4211"/>
            </a:avLst>
          </a:prstGeom>
          <a:solidFill>
            <a:srgbClr val="FFFFFF"/>
          </a:solidFill>
          <a:ln/>
          <a:effectLst>
            <a:outerShdw sx="100000" sy="100000" kx="0" ky="0" algn="bl" rotWithShape="0" blurRad="50800" dist="50800" dir="16200000">
              <a:srgbClr val="000000">
                <a:alpha val="8000"/>
              </a:srgbClr>
            </a:outerShdw>
          </a:effectLst>
        </p:spPr>
      </p:sp>
      <p:sp>
        <p:nvSpPr>
          <p:cNvPr id="5" name="Text 3"/>
          <p:cNvSpPr/>
          <p:nvPr/>
        </p:nvSpPr>
        <p:spPr>
          <a:xfrm>
            <a:off x="594360" y="1097280"/>
            <a:ext cx="3657600" cy="365760"/>
          </a:xfrm>
          <a:prstGeom prst="rect">
            <a:avLst/>
          </a:prstGeom>
          <a:noFill/>
          <a:ln/>
        </p:spPr>
        <p:txBody>
          <a:bodyPr wrap="square" rtlCol="0" anchor="ctr"/>
          <a:lstStyle/>
          <a:p>
            <a:pPr indent="0" marL="0">
              <a:buNone/>
            </a:pPr>
            <a:r>
              <a:rPr lang="en-US" sz="1500" b="1" dirty="0">
                <a:solidFill>
                  <a:srgbClr val="1B2A4A"/>
                </a:solidFill>
                <a:latin typeface="Century Gothic" pitchFamily="34" charset="0"/>
                <a:ea typeface="Century Gothic" pitchFamily="34" charset="-122"/>
                <a:cs typeface="Century Gothic" pitchFamily="34" charset="-120"/>
              </a:rPr>
              <a:t>Model Specification Error</a:t>
            </a:r>
            <a:endParaRPr lang="en-US" sz="1500" dirty="0"/>
          </a:p>
        </p:txBody>
      </p:sp>
      <p:sp>
        <p:nvSpPr>
          <p:cNvPr id="6" name="Text 4"/>
          <p:cNvSpPr/>
          <p:nvPr/>
        </p:nvSpPr>
        <p:spPr>
          <a:xfrm>
            <a:off x="594360" y="1554480"/>
            <a:ext cx="3657600" cy="868680"/>
          </a:xfrm>
          <a:prstGeom prst="rect">
            <a:avLst/>
          </a:prstGeom>
          <a:noFill/>
          <a:ln/>
        </p:spPr>
        <p:txBody>
          <a:bodyPr wrap="square" rtlCol="0" anchor="ctr"/>
          <a:lstStyle/>
          <a:p>
            <a:pPr indent="0" marL="0">
              <a:buNone/>
            </a:pPr>
            <a:r>
              <a:rPr lang="en-US" sz="1300" dirty="0">
                <a:solidFill>
                  <a:srgbClr val="2C2C2C"/>
                </a:solidFill>
                <a:latin typeface="Calibri" pitchFamily="34" charset="0"/>
                <a:ea typeface="Calibri" pitchFamily="34" charset="-122"/>
                <a:cs typeface="Calibri" pitchFamily="34" charset="-120"/>
              </a:rPr>
              <a:t>Omitted important predictors → biased coefficients and wrong conclusions.</a:t>
            </a:r>
            <a:endParaRPr lang="en-US" sz="1300" dirty="0"/>
          </a:p>
        </p:txBody>
      </p:sp>
      <p:sp>
        <p:nvSpPr>
          <p:cNvPr id="7" name="Shape 5"/>
          <p:cNvSpPr/>
          <p:nvPr/>
        </p:nvSpPr>
        <p:spPr>
          <a:xfrm>
            <a:off x="4754880" y="868680"/>
            <a:ext cx="4114800" cy="1737360"/>
          </a:xfrm>
          <a:prstGeom prst="roundRect">
            <a:avLst>
              <a:gd name="adj" fmla="val 4211"/>
            </a:avLst>
          </a:prstGeom>
          <a:solidFill>
            <a:srgbClr val="FFFFFF"/>
          </a:solidFill>
          <a:ln/>
          <a:effectLst>
            <a:outerShdw sx="100000" sy="100000" kx="0" ky="0" algn="bl" rotWithShape="0" blurRad="50800" dist="50800" dir="16200000">
              <a:srgbClr val="000000">
                <a:alpha val="8000"/>
              </a:srgbClr>
            </a:outerShdw>
          </a:effectLst>
        </p:spPr>
      </p:sp>
      <p:sp>
        <p:nvSpPr>
          <p:cNvPr id="8" name="Text 6"/>
          <p:cNvSpPr/>
          <p:nvPr/>
        </p:nvSpPr>
        <p:spPr>
          <a:xfrm>
            <a:off x="4983480" y="1097280"/>
            <a:ext cx="3657600" cy="365760"/>
          </a:xfrm>
          <a:prstGeom prst="rect">
            <a:avLst/>
          </a:prstGeom>
          <a:noFill/>
          <a:ln/>
        </p:spPr>
        <p:txBody>
          <a:bodyPr wrap="square" rtlCol="0" anchor="ctr"/>
          <a:lstStyle/>
          <a:p>
            <a:pPr indent="0" marL="0">
              <a:buNone/>
            </a:pPr>
            <a:r>
              <a:rPr lang="en-US" sz="1500" b="1" dirty="0">
                <a:solidFill>
                  <a:srgbClr val="1B2A4A"/>
                </a:solidFill>
                <a:latin typeface="Century Gothic" pitchFamily="34" charset="0"/>
                <a:ea typeface="Century Gothic" pitchFamily="34" charset="-122"/>
                <a:cs typeface="Century Gothic" pitchFamily="34" charset="-120"/>
              </a:rPr>
              <a:t>Mediation Claims</a:t>
            </a:r>
            <a:endParaRPr lang="en-US" sz="1500" dirty="0"/>
          </a:p>
        </p:txBody>
      </p:sp>
      <p:sp>
        <p:nvSpPr>
          <p:cNvPr id="9" name="Text 7"/>
          <p:cNvSpPr/>
          <p:nvPr/>
        </p:nvSpPr>
        <p:spPr>
          <a:xfrm>
            <a:off x="4983480" y="1554480"/>
            <a:ext cx="3657600" cy="868680"/>
          </a:xfrm>
          <a:prstGeom prst="rect">
            <a:avLst/>
          </a:prstGeom>
          <a:noFill/>
          <a:ln/>
        </p:spPr>
        <p:txBody>
          <a:bodyPr wrap="square" rtlCol="0" anchor="ctr"/>
          <a:lstStyle/>
          <a:p>
            <a:pPr indent="0" marL="0">
              <a:buNone/>
            </a:pPr>
            <a:r>
              <a:rPr lang="en-US" sz="1300" dirty="0">
                <a:solidFill>
                  <a:srgbClr val="2C2C2C"/>
                </a:solidFill>
                <a:latin typeface="Calibri" pitchFamily="34" charset="0"/>
                <a:ea typeface="Calibri" pitchFamily="34" charset="-122"/>
                <a:cs typeface="Calibri" pitchFamily="34" charset="-120"/>
              </a:rPr>
              <a:t>Statistical mediation is hierarchical regression / variance partitioning. It does not by itself prove a physical or psychological process.</a:t>
            </a:r>
            <a:endParaRPr lang="en-US" sz="1300" dirty="0"/>
          </a:p>
        </p:txBody>
      </p:sp>
      <p:sp>
        <p:nvSpPr>
          <p:cNvPr id="10" name="Shape 8"/>
          <p:cNvSpPr/>
          <p:nvPr/>
        </p:nvSpPr>
        <p:spPr>
          <a:xfrm>
            <a:off x="365760" y="2788920"/>
            <a:ext cx="4114800" cy="1737360"/>
          </a:xfrm>
          <a:prstGeom prst="roundRect">
            <a:avLst>
              <a:gd name="adj" fmla="val 4211"/>
            </a:avLst>
          </a:prstGeom>
          <a:solidFill>
            <a:srgbClr val="FFFFFF"/>
          </a:solidFill>
          <a:ln/>
          <a:effectLst>
            <a:outerShdw sx="100000" sy="100000" kx="0" ky="0" algn="bl" rotWithShape="0" blurRad="50800" dist="50800" dir="16200000">
              <a:srgbClr val="000000">
                <a:alpha val="8000"/>
              </a:srgbClr>
            </a:outerShdw>
          </a:effectLst>
        </p:spPr>
      </p:sp>
      <p:sp>
        <p:nvSpPr>
          <p:cNvPr id="11" name="Text 9"/>
          <p:cNvSpPr/>
          <p:nvPr/>
        </p:nvSpPr>
        <p:spPr>
          <a:xfrm>
            <a:off x="594360" y="3017520"/>
            <a:ext cx="3657600" cy="365760"/>
          </a:xfrm>
          <a:prstGeom prst="rect">
            <a:avLst/>
          </a:prstGeom>
          <a:noFill/>
          <a:ln/>
        </p:spPr>
        <p:txBody>
          <a:bodyPr wrap="square" rtlCol="0" anchor="ctr"/>
          <a:lstStyle/>
          <a:p>
            <a:pPr indent="0" marL="0">
              <a:buNone/>
            </a:pPr>
            <a:r>
              <a:rPr lang="en-US" sz="1500" b="1" dirty="0">
                <a:solidFill>
                  <a:srgbClr val="1B2A4A"/>
                </a:solidFill>
                <a:latin typeface="Century Gothic" pitchFamily="34" charset="0"/>
                <a:ea typeface="Century Gothic" pitchFamily="34" charset="-122"/>
                <a:cs typeface="Century Gothic" pitchFamily="34" charset="-120"/>
              </a:rPr>
              <a:t>“Controlling for”</a:t>
            </a:r>
            <a:endParaRPr lang="en-US" sz="1500" dirty="0"/>
          </a:p>
        </p:txBody>
      </p:sp>
      <p:sp>
        <p:nvSpPr>
          <p:cNvPr id="12" name="Text 10"/>
          <p:cNvSpPr/>
          <p:nvPr/>
        </p:nvSpPr>
        <p:spPr>
          <a:xfrm>
            <a:off x="594360" y="3474720"/>
            <a:ext cx="3657600" cy="868680"/>
          </a:xfrm>
          <a:prstGeom prst="rect">
            <a:avLst/>
          </a:prstGeom>
          <a:noFill/>
          <a:ln/>
        </p:spPr>
        <p:txBody>
          <a:bodyPr wrap="square" rtlCol="0" anchor="ctr"/>
          <a:lstStyle/>
          <a:p>
            <a:pPr indent="0" marL="0">
              <a:buNone/>
            </a:pPr>
            <a:r>
              <a:rPr lang="en-US" sz="1300" dirty="0">
                <a:solidFill>
                  <a:srgbClr val="2C2C2C"/>
                </a:solidFill>
                <a:latin typeface="Calibri" pitchFamily="34" charset="0"/>
                <a:ea typeface="Calibri" pitchFamily="34" charset="-122"/>
                <a:cs typeface="Calibri" pitchFamily="34" charset="-120"/>
              </a:rPr>
              <a:t>Statistical control is not experimental control. Partialling variance is not the same as holding a variable constant in the real world.</a:t>
            </a:r>
            <a:endParaRPr lang="en-US" sz="1300" dirty="0"/>
          </a:p>
        </p:txBody>
      </p:sp>
      <p:sp>
        <p:nvSpPr>
          <p:cNvPr id="13" name="Shape 11"/>
          <p:cNvSpPr/>
          <p:nvPr/>
        </p:nvSpPr>
        <p:spPr>
          <a:xfrm>
            <a:off x="4754880" y="2788920"/>
            <a:ext cx="4114800" cy="1737360"/>
          </a:xfrm>
          <a:prstGeom prst="roundRect">
            <a:avLst>
              <a:gd name="adj" fmla="val 4211"/>
            </a:avLst>
          </a:prstGeom>
          <a:solidFill>
            <a:srgbClr val="FFFFFF"/>
          </a:solidFill>
          <a:ln/>
          <a:effectLst>
            <a:outerShdw sx="100000" sy="100000" kx="0" ky="0" algn="bl" rotWithShape="0" blurRad="50800" dist="50800" dir="16200000">
              <a:srgbClr val="000000">
                <a:alpha val="8000"/>
              </a:srgbClr>
            </a:outerShdw>
          </a:effectLst>
        </p:spPr>
      </p:sp>
      <p:sp>
        <p:nvSpPr>
          <p:cNvPr id="14" name="Text 12"/>
          <p:cNvSpPr/>
          <p:nvPr/>
        </p:nvSpPr>
        <p:spPr>
          <a:xfrm>
            <a:off x="4983480" y="3017520"/>
            <a:ext cx="3657600" cy="365760"/>
          </a:xfrm>
          <a:prstGeom prst="rect">
            <a:avLst/>
          </a:prstGeom>
          <a:noFill/>
          <a:ln/>
        </p:spPr>
        <p:txBody>
          <a:bodyPr wrap="square" rtlCol="0" anchor="ctr"/>
          <a:lstStyle/>
          <a:p>
            <a:pPr indent="0" marL="0">
              <a:buNone/>
            </a:pPr>
            <a:r>
              <a:rPr lang="en-US" sz="1500" b="1" dirty="0">
                <a:solidFill>
                  <a:srgbClr val="1B2A4A"/>
                </a:solidFill>
                <a:latin typeface="Century Gothic" pitchFamily="34" charset="0"/>
                <a:ea typeface="Century Gothic" pitchFamily="34" charset="-122"/>
                <a:cs typeface="Century Gothic" pitchFamily="34" charset="-120"/>
              </a:rPr>
              <a:t>Utility Matters</a:t>
            </a:r>
            <a:endParaRPr lang="en-US" sz="1500" dirty="0"/>
          </a:p>
        </p:txBody>
      </p:sp>
      <p:sp>
        <p:nvSpPr>
          <p:cNvPr id="15" name="Text 13"/>
          <p:cNvSpPr/>
          <p:nvPr/>
        </p:nvSpPr>
        <p:spPr>
          <a:xfrm>
            <a:off x="4983480" y="3474720"/>
            <a:ext cx="3657600" cy="868680"/>
          </a:xfrm>
          <a:prstGeom prst="rect">
            <a:avLst/>
          </a:prstGeom>
          <a:noFill/>
          <a:ln/>
        </p:spPr>
        <p:txBody>
          <a:bodyPr wrap="square" rtlCol="0" anchor="ctr"/>
          <a:lstStyle/>
          <a:p>
            <a:pPr indent="0" marL="0">
              <a:buNone/>
            </a:pPr>
            <a:r>
              <a:rPr lang="en-US" sz="1300" dirty="0">
                <a:solidFill>
                  <a:srgbClr val="2C2C2C"/>
                </a:solidFill>
                <a:latin typeface="Calibri" pitchFamily="34" charset="0"/>
                <a:ea typeface="Calibri" pitchFamily="34" charset="-122"/>
                <a:cs typeface="Calibri" pitchFamily="34" charset="-120"/>
              </a:rPr>
              <a:t>A predictor that is expensive or impossible to collect has low utility even if it explains variance.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43"/>
          </a:solidFill>
          <a:ln/>
        </p:spPr>
      </p:sp>
      <p:sp>
        <p:nvSpPr>
          <p:cNvPr id="3" name="Text 1"/>
          <p:cNvSpPr/>
          <p:nvPr/>
        </p:nvSpPr>
        <p:spPr>
          <a:xfrm>
            <a:off x="457200" y="228600"/>
            <a:ext cx="8229600" cy="411480"/>
          </a:xfrm>
          <a:prstGeom prst="rect">
            <a:avLst/>
          </a:prstGeom>
          <a:noFill/>
          <a:ln/>
        </p:spPr>
        <p:txBody>
          <a:bodyPr wrap="square" rtlCol="0" anchor="ctr"/>
          <a:lstStyle/>
          <a:p>
            <a:pPr indent="0" marL="0">
              <a:buNone/>
            </a:pPr>
            <a:r>
              <a:rPr lang="en-US" sz="2200" b="1" dirty="0">
                <a:solidFill>
                  <a:srgbClr val="1B2A4A"/>
                </a:solidFill>
                <a:latin typeface="Century Gothic" pitchFamily="34" charset="0"/>
                <a:ea typeface="Century Gothic" pitchFamily="34" charset="-122"/>
                <a:cs typeface="Century Gothic" pitchFamily="34" charset="-120"/>
              </a:rPr>
              <a:t>PROJECT DELIVERABLES</a:t>
            </a:r>
            <a:endParaRPr lang="en-US" sz="2200" dirty="0"/>
          </a:p>
        </p:txBody>
      </p:sp>
      <p:sp>
        <p:nvSpPr>
          <p:cNvPr id="4" name="Text 2"/>
          <p:cNvSpPr/>
          <p:nvPr/>
        </p:nvSpPr>
        <p:spPr>
          <a:xfrm>
            <a:off x="457200" y="822960"/>
            <a:ext cx="731520" cy="548640"/>
          </a:xfrm>
          <a:prstGeom prst="rect">
            <a:avLst/>
          </a:prstGeom>
          <a:noFill/>
          <a:ln/>
        </p:spPr>
        <p:txBody>
          <a:bodyPr wrap="square" rtlCol="0" anchor="ctr"/>
          <a:lstStyle/>
          <a:p>
            <a:pPr indent="0" marL="0">
              <a:buNone/>
            </a:pPr>
            <a:r>
              <a:rPr lang="en-US" sz="1800" b="1" dirty="0">
                <a:solidFill>
                  <a:srgbClr val="D4A843"/>
                </a:solidFill>
                <a:latin typeface="Century Gothic" pitchFamily="34" charset="0"/>
                <a:ea typeface="Century Gothic" pitchFamily="34" charset="-122"/>
                <a:cs typeface="Century Gothic" pitchFamily="34" charset="-120"/>
              </a:rPr>
              <a:t>01</a:t>
            </a:r>
            <a:endParaRPr lang="en-US" sz="1800" dirty="0"/>
          </a:p>
        </p:txBody>
      </p:sp>
      <p:sp>
        <p:nvSpPr>
          <p:cNvPr id="5" name="Text 3"/>
          <p:cNvSpPr/>
          <p:nvPr/>
        </p:nvSpPr>
        <p:spPr>
          <a:xfrm>
            <a:off x="1371600" y="822960"/>
            <a:ext cx="6858000" cy="320040"/>
          </a:xfrm>
          <a:prstGeom prst="rect">
            <a:avLst/>
          </a:prstGeom>
          <a:noFill/>
          <a:ln/>
        </p:spPr>
        <p:txBody>
          <a:bodyPr wrap="square" rtlCol="0" anchor="ctr"/>
          <a:lstStyle/>
          <a:p>
            <a:pPr indent="0" marL="0">
              <a:buNone/>
            </a:pPr>
            <a:r>
              <a:rPr lang="en-US" sz="1600" b="1" dirty="0">
                <a:solidFill>
                  <a:srgbClr val="1B2A4A"/>
                </a:solidFill>
                <a:latin typeface="Century Gothic" pitchFamily="34" charset="0"/>
                <a:ea typeface="Century Gothic" pitchFamily="34" charset="-122"/>
                <a:cs typeface="Century Gothic" pitchFamily="34" charset="-120"/>
              </a:rPr>
              <a:t>Reusable Jupyter Notebook Template</a:t>
            </a:r>
            <a:endParaRPr lang="en-US" sz="1600" dirty="0"/>
          </a:p>
        </p:txBody>
      </p:sp>
      <p:sp>
        <p:nvSpPr>
          <p:cNvPr id="6" name="Text 4"/>
          <p:cNvSpPr/>
          <p:nvPr/>
        </p:nvSpPr>
        <p:spPr>
          <a:xfrm>
            <a:off x="1371600" y="1143000"/>
            <a:ext cx="6858000" cy="274320"/>
          </a:xfrm>
          <a:prstGeom prst="rect">
            <a:avLst/>
          </a:prstGeom>
          <a:noFill/>
          <a:ln/>
        </p:spPr>
        <p:txBody>
          <a:bodyPr wrap="square" rtlCol="0" anchor="ctr"/>
          <a:lstStyle/>
          <a:p>
            <a:pPr indent="0" marL="0">
              <a:buNone/>
            </a:pPr>
            <a:r>
              <a:rPr lang="en-US" sz="1300" dirty="0">
                <a:solidFill>
                  <a:srgbClr val="2C2C2C"/>
                </a:solidFill>
                <a:latin typeface="Calibri" pitchFamily="34" charset="0"/>
                <a:ea typeface="Calibri" pitchFamily="34" charset="-122"/>
                <a:cs typeface="Calibri" pitchFamily="34" charset="-120"/>
              </a:rPr>
              <a:t>Complete workflow with diagnostics and interpretation notes</a:t>
            </a:r>
            <a:endParaRPr lang="en-US" sz="1300" dirty="0"/>
          </a:p>
        </p:txBody>
      </p:sp>
      <p:sp>
        <p:nvSpPr>
          <p:cNvPr id="7" name="Text 5"/>
          <p:cNvSpPr/>
          <p:nvPr/>
        </p:nvSpPr>
        <p:spPr>
          <a:xfrm>
            <a:off x="457200" y="1600200"/>
            <a:ext cx="731520" cy="548640"/>
          </a:xfrm>
          <a:prstGeom prst="rect">
            <a:avLst/>
          </a:prstGeom>
          <a:noFill/>
          <a:ln/>
        </p:spPr>
        <p:txBody>
          <a:bodyPr wrap="square" rtlCol="0" anchor="ctr"/>
          <a:lstStyle/>
          <a:p>
            <a:pPr indent="0" marL="0">
              <a:buNone/>
            </a:pPr>
            <a:r>
              <a:rPr lang="en-US" sz="1800" b="1" dirty="0">
                <a:solidFill>
                  <a:srgbClr val="D4A843"/>
                </a:solidFill>
                <a:latin typeface="Century Gothic" pitchFamily="34" charset="0"/>
                <a:ea typeface="Century Gothic" pitchFamily="34" charset="-122"/>
                <a:cs typeface="Century Gothic" pitchFamily="34" charset="-120"/>
              </a:rPr>
              <a:t>02</a:t>
            </a:r>
            <a:endParaRPr lang="en-US" sz="1800" dirty="0"/>
          </a:p>
        </p:txBody>
      </p:sp>
      <p:sp>
        <p:nvSpPr>
          <p:cNvPr id="8" name="Text 6"/>
          <p:cNvSpPr/>
          <p:nvPr/>
        </p:nvSpPr>
        <p:spPr>
          <a:xfrm>
            <a:off x="1371600" y="1600200"/>
            <a:ext cx="6858000" cy="320040"/>
          </a:xfrm>
          <a:prstGeom prst="rect">
            <a:avLst/>
          </a:prstGeom>
          <a:noFill/>
          <a:ln/>
        </p:spPr>
        <p:txBody>
          <a:bodyPr wrap="square" rtlCol="0" anchor="ctr"/>
          <a:lstStyle/>
          <a:p>
            <a:pPr indent="0" marL="0">
              <a:buNone/>
            </a:pPr>
            <a:r>
              <a:rPr lang="en-US" sz="1600" b="1" dirty="0">
                <a:solidFill>
                  <a:srgbClr val="1B2A4A"/>
                </a:solidFill>
                <a:latin typeface="Century Gothic" pitchFamily="34" charset="0"/>
                <a:ea typeface="Century Gothic" pitchFamily="34" charset="-122"/>
                <a:cs typeface="Century Gothic" pitchFamily="34" charset="-120"/>
              </a:rPr>
              <a:t>Project Completion Checklist</a:t>
            </a:r>
            <a:endParaRPr lang="en-US" sz="1600" dirty="0"/>
          </a:p>
        </p:txBody>
      </p:sp>
      <p:sp>
        <p:nvSpPr>
          <p:cNvPr id="9" name="Text 7"/>
          <p:cNvSpPr/>
          <p:nvPr/>
        </p:nvSpPr>
        <p:spPr>
          <a:xfrm>
            <a:off x="1371600" y="1920240"/>
            <a:ext cx="6858000" cy="274320"/>
          </a:xfrm>
          <a:prstGeom prst="rect">
            <a:avLst/>
          </a:prstGeom>
          <a:noFill/>
          <a:ln/>
        </p:spPr>
        <p:txBody>
          <a:bodyPr wrap="square" rtlCol="0" anchor="ctr"/>
          <a:lstStyle/>
          <a:p>
            <a:pPr indent="0" marL="0">
              <a:buNone/>
            </a:pPr>
            <a:r>
              <a:rPr lang="en-US" sz="1300" dirty="0">
                <a:solidFill>
                  <a:srgbClr val="2C2C2C"/>
                </a:solidFill>
                <a:latin typeface="Calibri" pitchFamily="34" charset="0"/>
                <a:ea typeface="Calibri" pitchFamily="34" charset="-122"/>
                <a:cs typeface="Calibri" pitchFamily="34" charset="-120"/>
              </a:rPr>
              <a:t>Phase-by-phase quality gate for rigorous analysis</a:t>
            </a:r>
            <a:endParaRPr lang="en-US" sz="1300" dirty="0"/>
          </a:p>
        </p:txBody>
      </p:sp>
      <p:sp>
        <p:nvSpPr>
          <p:cNvPr id="10" name="Text 8"/>
          <p:cNvSpPr/>
          <p:nvPr/>
        </p:nvSpPr>
        <p:spPr>
          <a:xfrm>
            <a:off x="457200" y="2377440"/>
            <a:ext cx="731520" cy="548640"/>
          </a:xfrm>
          <a:prstGeom prst="rect">
            <a:avLst/>
          </a:prstGeom>
          <a:noFill/>
          <a:ln/>
        </p:spPr>
        <p:txBody>
          <a:bodyPr wrap="square" rtlCol="0" anchor="ctr"/>
          <a:lstStyle/>
          <a:p>
            <a:pPr indent="0" marL="0">
              <a:buNone/>
            </a:pPr>
            <a:r>
              <a:rPr lang="en-US" sz="1800" b="1" dirty="0">
                <a:solidFill>
                  <a:srgbClr val="D4A843"/>
                </a:solidFill>
                <a:latin typeface="Century Gothic" pitchFamily="34" charset="0"/>
                <a:ea typeface="Century Gothic" pitchFamily="34" charset="-122"/>
                <a:cs typeface="Century Gothic" pitchFamily="34" charset="-120"/>
              </a:rPr>
              <a:t>03</a:t>
            </a:r>
            <a:endParaRPr lang="en-US" sz="1800" dirty="0"/>
          </a:p>
        </p:txBody>
      </p:sp>
      <p:sp>
        <p:nvSpPr>
          <p:cNvPr id="11" name="Text 9"/>
          <p:cNvSpPr/>
          <p:nvPr/>
        </p:nvSpPr>
        <p:spPr>
          <a:xfrm>
            <a:off x="1371600" y="2377440"/>
            <a:ext cx="6858000" cy="320040"/>
          </a:xfrm>
          <a:prstGeom prst="rect">
            <a:avLst/>
          </a:prstGeom>
          <a:noFill/>
          <a:ln/>
        </p:spPr>
        <p:txBody>
          <a:bodyPr wrap="square" rtlCol="0" anchor="ctr"/>
          <a:lstStyle/>
          <a:p>
            <a:pPr indent="0" marL="0">
              <a:buNone/>
            </a:pPr>
            <a:r>
              <a:rPr lang="en-US" sz="1600" b="1" dirty="0">
                <a:solidFill>
                  <a:srgbClr val="1B2A4A"/>
                </a:solidFill>
                <a:latin typeface="Century Gothic" pitchFamily="34" charset="0"/>
                <a:ea typeface="Century Gothic" pitchFamily="34" charset="-122"/>
                <a:cs typeface="Century Gothic" pitchFamily="34" charset="-120"/>
              </a:rPr>
              <a:t>Project Memorandum</a:t>
            </a:r>
            <a:endParaRPr lang="en-US" sz="1600" dirty="0"/>
          </a:p>
        </p:txBody>
      </p:sp>
      <p:sp>
        <p:nvSpPr>
          <p:cNvPr id="12" name="Text 10"/>
          <p:cNvSpPr/>
          <p:nvPr/>
        </p:nvSpPr>
        <p:spPr>
          <a:xfrm>
            <a:off x="1371600" y="2697480"/>
            <a:ext cx="6858000" cy="274320"/>
          </a:xfrm>
          <a:prstGeom prst="rect">
            <a:avLst/>
          </a:prstGeom>
          <a:noFill/>
          <a:ln/>
        </p:spPr>
        <p:txBody>
          <a:bodyPr wrap="square" rtlCol="0" anchor="ctr"/>
          <a:lstStyle/>
          <a:p>
            <a:pPr indent="0" marL="0">
              <a:buNone/>
            </a:pPr>
            <a:r>
              <a:rPr lang="en-US" sz="1300" dirty="0">
                <a:solidFill>
                  <a:srgbClr val="2C2C2C"/>
                </a:solidFill>
                <a:latin typeface="Calibri" pitchFamily="34" charset="0"/>
                <a:ea typeface="Calibri" pitchFamily="34" charset="-122"/>
                <a:cs typeface="Calibri" pitchFamily="34" charset="-120"/>
              </a:rPr>
              <a:t>Scope, rationale, guardrails, and recommendation</a:t>
            </a:r>
            <a:endParaRPr lang="en-US" sz="1300" dirty="0"/>
          </a:p>
        </p:txBody>
      </p:sp>
      <p:sp>
        <p:nvSpPr>
          <p:cNvPr id="13" name="Text 11"/>
          <p:cNvSpPr/>
          <p:nvPr/>
        </p:nvSpPr>
        <p:spPr>
          <a:xfrm>
            <a:off x="457200" y="3154680"/>
            <a:ext cx="731520" cy="548640"/>
          </a:xfrm>
          <a:prstGeom prst="rect">
            <a:avLst/>
          </a:prstGeom>
          <a:noFill/>
          <a:ln/>
        </p:spPr>
        <p:txBody>
          <a:bodyPr wrap="square" rtlCol="0" anchor="ctr"/>
          <a:lstStyle/>
          <a:p>
            <a:pPr indent="0" marL="0">
              <a:buNone/>
            </a:pPr>
            <a:r>
              <a:rPr lang="en-US" sz="1800" b="1" dirty="0">
                <a:solidFill>
                  <a:srgbClr val="D4A843"/>
                </a:solidFill>
                <a:latin typeface="Century Gothic" pitchFamily="34" charset="0"/>
                <a:ea typeface="Century Gothic" pitchFamily="34" charset="-122"/>
                <a:cs typeface="Century Gothic" pitchFamily="34" charset="-120"/>
              </a:rPr>
              <a:t>04</a:t>
            </a:r>
            <a:endParaRPr lang="en-US" sz="1800" dirty="0"/>
          </a:p>
        </p:txBody>
      </p:sp>
      <p:sp>
        <p:nvSpPr>
          <p:cNvPr id="14" name="Text 12"/>
          <p:cNvSpPr/>
          <p:nvPr/>
        </p:nvSpPr>
        <p:spPr>
          <a:xfrm>
            <a:off x="1371600" y="3154680"/>
            <a:ext cx="6858000" cy="320040"/>
          </a:xfrm>
          <a:prstGeom prst="rect">
            <a:avLst/>
          </a:prstGeom>
          <a:noFill/>
          <a:ln/>
        </p:spPr>
        <p:txBody>
          <a:bodyPr wrap="square" rtlCol="0" anchor="ctr"/>
          <a:lstStyle/>
          <a:p>
            <a:pPr indent="0" marL="0">
              <a:buNone/>
            </a:pPr>
            <a:r>
              <a:rPr lang="en-US" sz="1600" b="1" dirty="0">
                <a:solidFill>
                  <a:srgbClr val="1B2A4A"/>
                </a:solidFill>
                <a:latin typeface="Century Gothic" pitchFamily="34" charset="0"/>
                <a:ea typeface="Century Gothic" pitchFamily="34" charset="-122"/>
                <a:cs typeface="Century Gothic" pitchFamily="34" charset="-120"/>
              </a:rPr>
              <a:t>This Slide Deck</a:t>
            </a:r>
            <a:endParaRPr lang="en-US" sz="1600" dirty="0"/>
          </a:p>
        </p:txBody>
      </p:sp>
      <p:sp>
        <p:nvSpPr>
          <p:cNvPr id="15" name="Text 13"/>
          <p:cNvSpPr/>
          <p:nvPr/>
        </p:nvSpPr>
        <p:spPr>
          <a:xfrm>
            <a:off x="1371600" y="3474720"/>
            <a:ext cx="6858000" cy="274320"/>
          </a:xfrm>
          <a:prstGeom prst="rect">
            <a:avLst/>
          </a:prstGeom>
          <a:noFill/>
          <a:ln/>
        </p:spPr>
        <p:txBody>
          <a:bodyPr wrap="square" rtlCol="0" anchor="ctr"/>
          <a:lstStyle/>
          <a:p>
            <a:pPr indent="0" marL="0">
              <a:buNone/>
            </a:pPr>
            <a:r>
              <a:rPr lang="en-US" sz="1300" dirty="0">
                <a:solidFill>
                  <a:srgbClr val="2C2C2C"/>
                </a:solidFill>
                <a:latin typeface="Calibri" pitchFamily="34" charset="0"/>
                <a:ea typeface="Calibri" pitchFamily="34" charset="-122"/>
                <a:cs typeface="Calibri" pitchFamily="34" charset="-120"/>
              </a:rPr>
              <a:t>Methods overview and key principles</a:t>
            </a:r>
            <a:endParaRPr lang="en-US" sz="1300" dirty="0"/>
          </a:p>
        </p:txBody>
      </p:sp>
      <p:sp>
        <p:nvSpPr>
          <p:cNvPr id="16" name="Text 14"/>
          <p:cNvSpPr/>
          <p:nvPr/>
        </p:nvSpPr>
        <p:spPr>
          <a:xfrm>
            <a:off x="457200" y="3931920"/>
            <a:ext cx="731520" cy="548640"/>
          </a:xfrm>
          <a:prstGeom prst="rect">
            <a:avLst/>
          </a:prstGeom>
          <a:noFill/>
          <a:ln/>
        </p:spPr>
        <p:txBody>
          <a:bodyPr wrap="square" rtlCol="0" anchor="ctr"/>
          <a:lstStyle/>
          <a:p>
            <a:pPr indent="0" marL="0">
              <a:buNone/>
            </a:pPr>
            <a:r>
              <a:rPr lang="en-US" sz="1800" b="1" dirty="0">
                <a:solidFill>
                  <a:srgbClr val="D4A843"/>
                </a:solidFill>
                <a:latin typeface="Century Gothic" pitchFamily="34" charset="0"/>
                <a:ea typeface="Century Gothic" pitchFamily="34" charset="-122"/>
                <a:cs typeface="Century Gothic" pitchFamily="34" charset="-120"/>
              </a:rPr>
              <a:t>05</a:t>
            </a:r>
            <a:endParaRPr lang="en-US" sz="1800" dirty="0"/>
          </a:p>
        </p:txBody>
      </p:sp>
      <p:sp>
        <p:nvSpPr>
          <p:cNvPr id="17" name="Text 15"/>
          <p:cNvSpPr/>
          <p:nvPr/>
        </p:nvSpPr>
        <p:spPr>
          <a:xfrm>
            <a:off x="1371600" y="3931920"/>
            <a:ext cx="6858000" cy="320040"/>
          </a:xfrm>
          <a:prstGeom prst="rect">
            <a:avLst/>
          </a:prstGeom>
          <a:noFill/>
          <a:ln/>
        </p:spPr>
        <p:txBody>
          <a:bodyPr wrap="square" rtlCol="0" anchor="ctr"/>
          <a:lstStyle/>
          <a:p>
            <a:pPr indent="0" marL="0">
              <a:buNone/>
            </a:pPr>
            <a:r>
              <a:rPr lang="en-US" sz="1600" b="1" dirty="0">
                <a:solidFill>
                  <a:srgbClr val="1B2A4A"/>
                </a:solidFill>
                <a:latin typeface="Century Gothic" pitchFamily="34" charset="0"/>
                <a:ea typeface="Century Gothic" pitchFamily="34" charset="-122"/>
                <a:cs typeface="Century Gothic" pitchFamily="34" charset="-120"/>
              </a:rPr>
              <a:t>Top 5 Extension Topics</a:t>
            </a:r>
            <a:endParaRPr lang="en-US" sz="1600" dirty="0"/>
          </a:p>
        </p:txBody>
      </p:sp>
      <p:sp>
        <p:nvSpPr>
          <p:cNvPr id="18" name="Text 16"/>
          <p:cNvSpPr/>
          <p:nvPr/>
        </p:nvSpPr>
        <p:spPr>
          <a:xfrm>
            <a:off x="1371600" y="4251960"/>
            <a:ext cx="6858000" cy="274320"/>
          </a:xfrm>
          <a:prstGeom prst="rect">
            <a:avLst/>
          </a:prstGeom>
          <a:noFill/>
          <a:ln/>
        </p:spPr>
        <p:txBody>
          <a:bodyPr wrap="square" rtlCol="0" anchor="ctr"/>
          <a:lstStyle/>
          <a:p>
            <a:pPr indent="0" marL="0">
              <a:buNone/>
            </a:pPr>
            <a:r>
              <a:rPr lang="en-US" sz="1300" dirty="0">
                <a:solidFill>
                  <a:srgbClr val="2C2C2C"/>
                </a:solidFill>
                <a:latin typeface="Calibri" pitchFamily="34" charset="0"/>
                <a:ea typeface="Calibri" pitchFamily="34" charset="-122"/>
                <a:cs typeface="Calibri" pitchFamily="34" charset="-120"/>
              </a:rPr>
              <a:t>Other domains where the same methodology applies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B33"/>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43"/>
          </a:solidFill>
          <a:ln/>
        </p:spPr>
      </p:sp>
      <p:sp>
        <p:nvSpPr>
          <p:cNvPr id="3" name="Text 1"/>
          <p:cNvSpPr/>
          <p:nvPr/>
        </p:nvSpPr>
        <p:spPr>
          <a:xfrm>
            <a:off x="457200" y="1188720"/>
            <a:ext cx="8229600" cy="365760"/>
          </a:xfrm>
          <a:prstGeom prst="rect">
            <a:avLst/>
          </a:prstGeom>
          <a:noFill/>
          <a:ln/>
        </p:spPr>
        <p:txBody>
          <a:bodyPr wrap="square" rtlCol="0" anchor="ctr"/>
          <a:lstStyle/>
          <a:p>
            <a:pPr indent="0" marL="0">
              <a:buNone/>
            </a:pPr>
            <a:r>
              <a:rPr lang="en-US" sz="1800" b="1" dirty="0">
                <a:solidFill>
                  <a:srgbClr val="D4A843"/>
                </a:solidFill>
                <a:latin typeface="Century Gothic" pitchFamily="34" charset="0"/>
                <a:ea typeface="Century Gothic" pitchFamily="34" charset="-122"/>
                <a:cs typeface="Century Gothic" pitchFamily="34" charset="-120"/>
              </a:rPr>
              <a:t>REMEMBER</a:t>
            </a:r>
            <a:endParaRPr lang="en-US" sz="1800" dirty="0"/>
          </a:p>
        </p:txBody>
      </p:sp>
      <p:sp>
        <p:nvSpPr>
          <p:cNvPr id="4" name="Text 2"/>
          <p:cNvSpPr/>
          <p:nvPr/>
        </p:nvSpPr>
        <p:spPr>
          <a:xfrm>
            <a:off x="457200" y="1828800"/>
            <a:ext cx="8229600" cy="1097280"/>
          </a:xfrm>
          <a:prstGeom prst="rect">
            <a:avLst/>
          </a:prstGeom>
          <a:noFill/>
          <a:ln/>
        </p:spPr>
        <p:txBody>
          <a:bodyPr wrap="square" rtlCol="0" anchor="ctr"/>
          <a:lstStyle/>
          <a:p>
            <a:pPr indent="0" marL="0">
              <a:buNone/>
            </a:pPr>
            <a:r>
              <a:rPr lang="en-US" sz="2400" i="1" dirty="0">
                <a:solidFill>
                  <a:srgbClr val="FFFFFF"/>
                </a:solidFill>
                <a:latin typeface="Century Gothic" pitchFamily="34" charset="0"/>
                <a:ea typeface="Century Gothic" pitchFamily="34" charset="-122"/>
                <a:cs typeface="Century Gothic" pitchFamily="34" charset="-120"/>
              </a:rPr>
              <a:t>“In statistics, the word ‘predict’ only means as much as how it is defined mathematically.”</a:t>
            </a:r>
            <a:endParaRPr lang="en-US" sz="2400" dirty="0"/>
          </a:p>
        </p:txBody>
      </p:sp>
      <p:sp>
        <p:nvSpPr>
          <p:cNvPr id="5" name="Text 3"/>
          <p:cNvSpPr/>
          <p:nvPr/>
        </p:nvSpPr>
        <p:spPr>
          <a:xfrm>
            <a:off x="457200" y="3200400"/>
            <a:ext cx="8229600" cy="914400"/>
          </a:xfrm>
          <a:prstGeom prst="rect">
            <a:avLst/>
          </a:prstGeom>
          <a:noFill/>
          <a:ln/>
        </p:spPr>
        <p:txBody>
          <a:bodyPr wrap="square" rtlCol="0" anchor="ctr"/>
          <a:lstStyle/>
          <a:p>
            <a:pPr indent="0" marL="0">
              <a:buNone/>
            </a:pPr>
            <a:r>
              <a:rPr lang="en-US" sz="1600" dirty="0">
                <a:solidFill>
                  <a:srgbClr val="E8E4DD"/>
                </a:solidFill>
                <a:latin typeface="Calibri" pitchFamily="34" charset="0"/>
                <a:ea typeface="Calibri" pitchFamily="34" charset="-122"/>
                <a:cs typeface="Calibri" pitchFamily="34" charset="-120"/>
              </a:rPr>
              <a:t>All models are context-dependent.</a:t>
            </a:r>
            <a:endParaRPr lang="en-US" sz="1600" dirty="0"/>
          </a:p>
          <a:p>
            <a:pPr indent="0" marL="0">
              <a:buNone/>
            </a:pPr>
            <a:r>
              <a:rPr lang="en-US" sz="1600" dirty="0">
                <a:solidFill>
                  <a:srgbClr val="E8E4DD"/>
                </a:solidFill>
                <a:latin typeface="Calibri" pitchFamily="34" charset="0"/>
                <a:ea typeface="Calibri" pitchFamily="34" charset="-122"/>
                <a:cs typeface="Calibri" pitchFamily="34" charset="-120"/>
              </a:rPr>
              <a:t>Report the full model. Interpret coefficients inside that model.</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Simple &amp; Multiple Linear Regression Project</dc:title>
  <dc:subject>PptxGenJS Presentation</dc:subject>
  <dc:creator>Analytics Team</dc:creator>
  <cp:lastModifiedBy>Analytics Team</cp:lastModifiedBy>
  <cp:revision>1</cp:revision>
  <dcterms:created xsi:type="dcterms:W3CDTF">2026-08-18T07:37:42Z</dcterms:created>
  <dcterms:modified xsi:type="dcterms:W3CDTF">2026-08-18T07:37:42Z</dcterms:modified>
</cp:coreProperties>
</file>